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Inter SemiBold"/>
      <p:regular r:id="rId18"/>
      <p:bold r:id="rId19"/>
      <p:italic r:id="rId20"/>
      <p:boldItalic r:id="rId21"/>
    </p:embeddedFont>
    <p:embeddedFont>
      <p:font typeface="Inter"/>
      <p:bold r:id="rId22"/>
      <p:boldItalic r:id="rId23"/>
    </p:embeddedFont>
    <p:embeddedFont>
      <p:font typeface="Inter Medium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italic.fntdata"/><Relationship Id="rId22" Type="http://schemas.openxmlformats.org/officeDocument/2006/relationships/font" Target="fonts/Inter-bold.fntdata"/><Relationship Id="rId21" Type="http://schemas.openxmlformats.org/officeDocument/2006/relationships/font" Target="fonts/InterSemiBold-boldItalic.fntdata"/><Relationship Id="rId24" Type="http://schemas.openxmlformats.org/officeDocument/2006/relationships/font" Target="fonts/InterMedium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Medium-italic.fntdata"/><Relationship Id="rId25" Type="http://schemas.openxmlformats.org/officeDocument/2006/relationships/font" Target="fonts/InterMedium-bold.fntdata"/><Relationship Id="rId27" Type="http://schemas.openxmlformats.org/officeDocument/2006/relationships/font" Target="fonts/Inter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InterSemiBold-bold.fntdata"/><Relationship Id="rId18" Type="http://schemas.openxmlformats.org/officeDocument/2006/relationships/font" Target="fonts/Inter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3bb1e82a7f2df142_2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3bb1e82a7f2df142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3bb1e82a7f2df142_2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h3bb1e82a7f2df142_2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h3bb1e82a7f2df142_2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h3bb1e82a7f2df142_2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3bb1e82a7f2df142_2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h3bb1e82a7f2df142_2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3bb1e82a7f2df142_2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h3bb1e82a7f2df142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h3bb1e82a7f2df142_2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h3bb1e82a7f2df142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h3bb1e82a7f2df142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h3bb1e82a7f2df142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h3bb1e82a7f2df142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h3bb1e82a7f2df142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h3bb1e82a7f2df142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h3bb1e82a7f2df142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h3bb1e82a7f2df142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h3bb1e82a7f2df142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h3bb1e82a7f2df142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h3bb1e82a7f2df142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h3bb1e82a7f2df142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h3bb1e82a7f2df142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3bb1e82a7f2df142_14_0)">
  <p:cSld name="Generated (h3bb1e82a7f2df142_14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457200" y="457200"/>
            <a:ext cx="457200" cy="5730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 txBox="1"/>
          <p:nvPr/>
        </p:nvSpPr>
        <p:spPr>
          <a:xfrm>
            <a:off x="457200" y="1333500"/>
            <a:ext cx="822960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Zero Trust Architecture for Securing PLC-HMI Communication in Industrial Control Systems</a:t>
            </a:r>
            <a:endParaRPr b="1" sz="2400">
              <a:solidFill>
                <a:srgbClr val="0A0A0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004B87"/>
                </a:solidFill>
                <a:latin typeface="Inter Medium"/>
                <a:ea typeface="Inter Medium"/>
                <a:cs typeface="Inter Medium"/>
                <a:sym typeface="Inter Medium"/>
              </a:rPr>
              <a:t>mTLS-Based Proxy Design, Policy Enforcement, and Empirical Attack Validation</a:t>
            </a:r>
            <a:endParaRPr b="0" sz="1600">
              <a:solidFill>
                <a:srgbClr val="004B87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1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62" name="Google Shape;62;p1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5"/>
            <p:cNvSpPr/>
            <p:nvPr/>
          </p:nvSpPr>
          <p:spPr>
            <a:xfrm>
              <a:off x="457200" y="457200"/>
              <a:ext cx="457200" cy="573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4" name="Google Shape;64;p15"/>
            <p:cNvCxnSpPr/>
            <p:nvPr/>
          </p:nvCxnSpPr>
          <p:spPr>
            <a:xfrm>
              <a:off x="457200" y="11430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5" name="Google Shape;65;p15"/>
          <p:cNvSpPr txBox="1"/>
          <p:nvPr/>
        </p:nvSpPr>
        <p:spPr>
          <a:xfrm>
            <a:off x="457200" y="609600"/>
            <a:ext cx="8229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40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Legacy OT networks lack native security, leaving physical processes highly vulnerable.</a:t>
            </a:r>
            <a:endParaRPr b="1" sz="1540">
              <a:solidFill>
                <a:srgbClr val="0A0A0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6" name="Google Shape;66;p15"/>
          <p:cNvGrpSpPr/>
          <p:nvPr/>
        </p:nvGrpSpPr>
        <p:grpSpPr>
          <a:xfrm>
            <a:off x="457200" y="1428750"/>
            <a:ext cx="2324100" cy="2667000"/>
            <a:chOff x="0" y="0"/>
            <a:chExt cx="2324100" cy="2667000"/>
          </a:xfrm>
        </p:grpSpPr>
        <p:sp>
          <p:nvSpPr>
            <p:cNvPr id="67" name="Google Shape;67;p15"/>
            <p:cNvSpPr/>
            <p:nvPr/>
          </p:nvSpPr>
          <p:spPr>
            <a:xfrm>
              <a:off x="0" y="0"/>
              <a:ext cx="38100" cy="26670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5"/>
            <p:cNvSpPr txBox="1"/>
            <p:nvPr/>
          </p:nvSpPr>
          <p:spPr>
            <a:xfrm>
              <a:off x="228600" y="190500"/>
              <a:ext cx="20955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004B87"/>
                  </a:solidFill>
                  <a:latin typeface="Inter"/>
                  <a:ea typeface="Inter"/>
                  <a:cs typeface="Inter"/>
                  <a:sym typeface="Inter"/>
                </a:rPr>
                <a:t>~90%</a:t>
              </a:r>
              <a:endParaRPr b="1" sz="3600">
                <a:solidFill>
                  <a:srgbClr val="004B8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04B8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Global Infrastructure</a:t>
              </a:r>
              <a:endParaRPr b="0" sz="1000">
                <a:solidFill>
                  <a:srgbClr val="004B8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b="0" lang="en" sz="110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Estimated deployment of the Modbus protocol across industrial automation systems worldwide.</a:t>
              </a:r>
              <a:endParaRPr b="0" sz="110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9" name="Google Shape;69;p15"/>
          <p:cNvGrpSpPr/>
          <p:nvPr/>
        </p:nvGrpSpPr>
        <p:grpSpPr>
          <a:xfrm>
            <a:off x="2857500" y="1428750"/>
            <a:ext cx="5829300" cy="2762400"/>
            <a:chOff x="0" y="0"/>
            <a:chExt cx="5829300" cy="2762400"/>
          </a:xfrm>
        </p:grpSpPr>
        <p:sp>
          <p:nvSpPr>
            <p:cNvPr id="70" name="Google Shape;70;p15"/>
            <p:cNvSpPr txBox="1"/>
            <p:nvPr/>
          </p:nvSpPr>
          <p:spPr>
            <a:xfrm>
              <a:off x="0" y="0"/>
              <a:ext cx="58293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6666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Protocol Design Flaws</a:t>
              </a:r>
              <a:endParaRPr b="0" sz="1000">
                <a:solidFill>
                  <a:srgbClr val="66666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Operational technology (OT) networks were originally engineered for determinism and availability, not confidentiality. The Modbus protocol operates entirely without native authentication, encryption, or integrity verification.</a:t>
              </a:r>
              <a:endParaRPr b="0" sz="12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Any host reaching port 502/TCP on a PLC can issue arbitrary read or write commands without requiring credentials.</a:t>
              </a:r>
              <a:endParaRPr b="0" sz="12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71" name="Google Shape;71;p15"/>
            <p:cNvGrpSpPr/>
            <p:nvPr/>
          </p:nvGrpSpPr>
          <p:grpSpPr>
            <a:xfrm>
              <a:off x="0" y="1333500"/>
              <a:ext cx="5829300" cy="1428900"/>
              <a:chOff x="0" y="0"/>
              <a:chExt cx="5829300" cy="1428900"/>
            </a:xfrm>
          </p:grpSpPr>
          <p:sp>
            <p:nvSpPr>
              <p:cNvPr id="72" name="Google Shape;72;p15"/>
              <p:cNvSpPr/>
              <p:nvPr/>
            </p:nvSpPr>
            <p:spPr>
              <a:xfrm>
                <a:off x="0" y="0"/>
                <a:ext cx="5829300" cy="1428900"/>
              </a:xfrm>
              <a:prstGeom prst="rect">
                <a:avLst/>
              </a:prstGeom>
              <a:solidFill>
                <a:srgbClr val="F4F6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3" name="Google Shape;73;p15"/>
              <p:cNvGrpSpPr/>
              <p:nvPr/>
            </p:nvGrpSpPr>
            <p:grpSpPr>
              <a:xfrm>
                <a:off x="190500" y="190500"/>
                <a:ext cx="182880" cy="182880"/>
                <a:chOff x="0" y="0"/>
                <a:chExt cx="228600" cy="228600"/>
              </a:xfrm>
            </p:grpSpPr>
            <p:sp>
              <p:nvSpPr>
                <p:cNvPr id="74" name="Google Shape;74;p15"/>
                <p:cNvSpPr/>
                <p:nvPr/>
              </p:nvSpPr>
              <p:spPr>
                <a:xfrm>
                  <a:off x="0" y="0"/>
                  <a:ext cx="228600" cy="228600"/>
                </a:xfrm>
                <a:prstGeom prst="ellipse">
                  <a:avLst/>
                </a:prstGeom>
                <a:solidFill>
                  <a:srgbClr val="FEE2E2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" name="Google Shape;75;p15"/>
                <p:cNvSpPr/>
                <p:nvPr/>
              </p:nvSpPr>
              <p:spPr>
                <a:xfrm>
                  <a:off x="114300" y="66675"/>
                  <a:ext cx="0" cy="954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0"/>
                      </a:moveTo>
                      <a:lnTo>
                        <a:pt x="0" y="72000"/>
                      </a:lnTo>
                      <a:moveTo>
                        <a:pt x="0" y="120000"/>
                      </a:moveTo>
                      <a:lnTo>
                        <a:pt x="120000" y="12000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D32F2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76" name="Google Shape;76;p15"/>
              <p:cNvSpPr txBox="1"/>
              <p:nvPr/>
            </p:nvSpPr>
            <p:spPr>
              <a:xfrm>
                <a:off x="495300" y="171450"/>
                <a:ext cx="51435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30">
                    <a:solidFill>
                      <a:srgbClr val="D32F2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Highlighted Real-World Incidents</a:t>
                </a:r>
                <a:endParaRPr b="0" sz="930">
                  <a:solidFill>
                    <a:srgbClr val="D32F2F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-297498" lvl="0" marL="457200" rtl="0" algn="l">
                  <a:spcBef>
                    <a:spcPts val="600"/>
                  </a:spcBef>
                  <a:spcAft>
                    <a:spcPts val="0"/>
                  </a:spcAft>
                  <a:buSzPts val="1085"/>
                  <a:buChar char="●"/>
                </a:pPr>
                <a:r>
                  <a:rPr b="1" lang="en" sz="930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2021 Oldsmar Water Treatment Incident:</a:t>
                </a:r>
                <a:r>
                  <a:rPr b="0" lang="en" sz="930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 Unauthorized alteration of chemical levels via exposed control interfaces.</a:t>
                </a:r>
                <a:endParaRPr b="0" sz="93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7498" lvl="0" marL="457200" rtl="0" algn="l">
                  <a:spcBef>
                    <a:spcPts val="750"/>
                  </a:spcBef>
                  <a:spcAft>
                    <a:spcPts val="750"/>
                  </a:spcAft>
                  <a:buSzPts val="1085"/>
                  <a:buChar char="●"/>
                </a:pPr>
                <a:r>
                  <a:rPr b="1" lang="en" sz="930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2015 &amp; 2016 Ukrainian Power Grid Attacks:</a:t>
                </a:r>
                <a:r>
                  <a:rPr b="0" lang="en" sz="930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 Direct cyber intrusions exploiting unauthenticated industrial protocols to cause widespread blackouts.</a:t>
                </a:r>
                <a:endParaRPr b="0" sz="93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1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82" name="Google Shape;82;p16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6"/>
            <p:cNvSpPr/>
            <p:nvPr/>
          </p:nvSpPr>
          <p:spPr>
            <a:xfrm>
              <a:off x="457200" y="381000"/>
              <a:ext cx="457200" cy="573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4" name="Google Shape;84;p16"/>
            <p:cNvCxnSpPr/>
            <p:nvPr/>
          </p:nvCxnSpPr>
          <p:spPr>
            <a:xfrm>
              <a:off x="457200" y="11430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5" name="Google Shape;85;p16"/>
          <p:cNvSpPr txBox="1"/>
          <p:nvPr/>
        </p:nvSpPr>
        <p:spPr>
          <a:xfrm>
            <a:off x="457200" y="51435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0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Current security methods fail to provide deterministic, per-identity access control without prohibitive costs.</a:t>
            </a:r>
            <a:endParaRPr b="1" sz="1850">
              <a:solidFill>
                <a:srgbClr val="0A0A0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6" name="Google Shape;86;p16"/>
          <p:cNvGrpSpPr/>
          <p:nvPr/>
        </p:nvGrpSpPr>
        <p:grpSpPr>
          <a:xfrm>
            <a:off x="457200" y="1333500"/>
            <a:ext cx="3981600" cy="1524000"/>
            <a:chOff x="0" y="0"/>
            <a:chExt cx="3981600" cy="1524000"/>
          </a:xfrm>
        </p:grpSpPr>
        <p:sp>
          <p:nvSpPr>
            <p:cNvPr id="87" name="Google Shape;87;p16"/>
            <p:cNvSpPr/>
            <p:nvPr/>
          </p:nvSpPr>
          <p:spPr>
            <a:xfrm>
              <a:off x="0" y="0"/>
              <a:ext cx="3981600" cy="1524000"/>
            </a:xfrm>
            <a:prstGeom prst="roundRect">
              <a:avLst>
                <a:gd fmla="val 0" name="adj"/>
              </a:avLst>
            </a:prstGeom>
            <a:solidFill>
              <a:srgbClr val="F4F6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6"/>
            <p:cNvSpPr/>
            <p:nvPr/>
          </p:nvSpPr>
          <p:spPr>
            <a:xfrm>
              <a:off x="0" y="0"/>
              <a:ext cx="38100" cy="15240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6"/>
            <p:cNvSpPr txBox="1"/>
            <p:nvPr/>
          </p:nvSpPr>
          <p:spPr>
            <a:xfrm>
              <a:off x="228600" y="190500"/>
              <a:ext cx="3524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04B8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Segmentation Vulnerabilities</a:t>
              </a:r>
              <a:endParaRPr b="0" sz="900">
                <a:solidFill>
                  <a:srgbClr val="004B8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A0A0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Network-Layer Segmentation</a:t>
              </a:r>
              <a:endParaRPr b="0" sz="1200">
                <a:solidFill>
                  <a:srgbClr val="0A0A0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Fails to mitigate threats against authorized but compromised hosts once network boundaries are traversed.</a:t>
              </a:r>
              <a:endParaRPr b="0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0" name="Google Shape;90;p16"/>
          <p:cNvGrpSpPr/>
          <p:nvPr/>
        </p:nvGrpSpPr>
        <p:grpSpPr>
          <a:xfrm>
            <a:off x="457200" y="3086100"/>
            <a:ext cx="3981600" cy="1524000"/>
            <a:chOff x="0" y="0"/>
            <a:chExt cx="3981600" cy="1524000"/>
          </a:xfrm>
        </p:grpSpPr>
        <p:sp>
          <p:nvSpPr>
            <p:cNvPr id="91" name="Google Shape;91;p16"/>
            <p:cNvSpPr/>
            <p:nvPr/>
          </p:nvSpPr>
          <p:spPr>
            <a:xfrm>
              <a:off x="0" y="0"/>
              <a:ext cx="3981600" cy="1524000"/>
            </a:xfrm>
            <a:prstGeom prst="roundRect">
              <a:avLst>
                <a:gd fmla="val 0" name="adj"/>
              </a:avLst>
            </a:prstGeom>
            <a:solidFill>
              <a:srgbClr val="F4F6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6"/>
            <p:cNvSpPr/>
            <p:nvPr/>
          </p:nvSpPr>
          <p:spPr>
            <a:xfrm>
              <a:off x="0" y="0"/>
              <a:ext cx="38100" cy="15240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6"/>
            <p:cNvSpPr txBox="1"/>
            <p:nvPr/>
          </p:nvSpPr>
          <p:spPr>
            <a:xfrm>
              <a:off x="228600" y="190500"/>
              <a:ext cx="3524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04B8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Detection Limitations</a:t>
              </a:r>
              <a:endParaRPr b="0" sz="900">
                <a:solidFill>
                  <a:srgbClr val="004B8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A0A0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Anomaly Detection Approaches</a:t>
              </a:r>
              <a:endParaRPr b="0" sz="1200">
                <a:solidFill>
                  <a:srgbClr val="0A0A0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Cannot deterministically block zero-day write injections; frequent false positives carry high operational costs.</a:t>
              </a:r>
              <a:endParaRPr b="0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4" name="Google Shape;94;p16"/>
          <p:cNvGrpSpPr/>
          <p:nvPr/>
        </p:nvGrpSpPr>
        <p:grpSpPr>
          <a:xfrm>
            <a:off x="4705350" y="1333500"/>
            <a:ext cx="3981600" cy="1524000"/>
            <a:chOff x="0" y="0"/>
            <a:chExt cx="3981600" cy="1524000"/>
          </a:xfrm>
        </p:grpSpPr>
        <p:sp>
          <p:nvSpPr>
            <p:cNvPr id="95" name="Google Shape;95;p16"/>
            <p:cNvSpPr/>
            <p:nvPr/>
          </p:nvSpPr>
          <p:spPr>
            <a:xfrm>
              <a:off x="0" y="0"/>
              <a:ext cx="3981600" cy="1524000"/>
            </a:xfrm>
            <a:prstGeom prst="roundRect">
              <a:avLst>
                <a:gd fmla="val 0" name="adj"/>
              </a:avLst>
            </a:prstGeom>
            <a:solidFill>
              <a:srgbClr val="F4F6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6"/>
            <p:cNvSpPr/>
            <p:nvPr/>
          </p:nvSpPr>
          <p:spPr>
            <a:xfrm>
              <a:off x="0" y="0"/>
              <a:ext cx="38100" cy="15240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6"/>
            <p:cNvSpPr txBox="1"/>
            <p:nvPr/>
          </p:nvSpPr>
          <p:spPr>
            <a:xfrm>
              <a:off x="228600" y="190500"/>
              <a:ext cx="3524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04B8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Upgrade Barriers</a:t>
              </a:r>
              <a:endParaRPr b="0" sz="900">
                <a:solidFill>
                  <a:srgbClr val="004B8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A0A0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Protocol Replacement (e.g., OPC-UA)</a:t>
              </a:r>
              <a:endParaRPr b="0" sz="1200">
                <a:solidFill>
                  <a:srgbClr val="0A0A0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Provides native security but demands extensive firmware upgrades that are often prohibitive for older brownfield facilities.</a:t>
              </a:r>
              <a:endParaRPr b="0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8" name="Google Shape;98;p16"/>
          <p:cNvGrpSpPr/>
          <p:nvPr/>
        </p:nvGrpSpPr>
        <p:grpSpPr>
          <a:xfrm>
            <a:off x="4705350" y="3086100"/>
            <a:ext cx="3981600" cy="1524000"/>
            <a:chOff x="0" y="0"/>
            <a:chExt cx="3981600" cy="1524000"/>
          </a:xfrm>
        </p:grpSpPr>
        <p:sp>
          <p:nvSpPr>
            <p:cNvPr id="99" name="Google Shape;99;p16"/>
            <p:cNvSpPr/>
            <p:nvPr/>
          </p:nvSpPr>
          <p:spPr>
            <a:xfrm>
              <a:off x="0" y="0"/>
              <a:ext cx="3981600" cy="1524000"/>
            </a:xfrm>
            <a:prstGeom prst="roundRect">
              <a:avLst>
                <a:gd fmla="val 0" name="adj"/>
              </a:avLst>
            </a:prstGeom>
            <a:solidFill>
              <a:srgbClr val="F4F6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6"/>
            <p:cNvSpPr/>
            <p:nvPr/>
          </p:nvSpPr>
          <p:spPr>
            <a:xfrm>
              <a:off x="0" y="0"/>
              <a:ext cx="38100" cy="15240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6"/>
            <p:cNvSpPr txBox="1"/>
            <p:nvPr/>
          </p:nvSpPr>
          <p:spPr>
            <a:xfrm>
              <a:off x="228600" y="190500"/>
              <a:ext cx="3524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04B8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Financial &amp; Functional Constraints</a:t>
              </a:r>
              <a:endParaRPr b="0" sz="900">
                <a:solidFill>
                  <a:srgbClr val="004B8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A0A0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Commercial Inline Security Appliances</a:t>
              </a:r>
              <a:endParaRPr b="0" sz="1200">
                <a:solidFill>
                  <a:srgbClr val="0A0A0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Typically lack granular per-identity access control while imposing capital costs ranging from $3,000 to $15,000 per choke point.</a:t>
              </a:r>
              <a:endParaRPr b="0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07" name="Google Shape;107;p1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7"/>
            <p:cNvSpPr/>
            <p:nvPr/>
          </p:nvSpPr>
          <p:spPr>
            <a:xfrm>
              <a:off x="457200" y="381000"/>
              <a:ext cx="457200" cy="573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9" name="Google Shape;109;p17"/>
            <p:cNvCxnSpPr/>
            <p:nvPr/>
          </p:nvCxnSpPr>
          <p:spPr>
            <a:xfrm>
              <a:off x="457200" y="1095375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0" name="Google Shape;110;p17"/>
          <p:cNvSpPr txBox="1"/>
          <p:nvPr/>
        </p:nvSpPr>
        <p:spPr>
          <a:xfrm>
            <a:off x="457200" y="533400"/>
            <a:ext cx="8229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A non-intrusive ZTA proxy enforces authentication and write-blocking without firmware changes.</a:t>
            </a:r>
            <a:endParaRPr b="1" sz="1550">
              <a:solidFill>
                <a:srgbClr val="0A0A0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11" name="Google Shape;111;p17"/>
          <p:cNvGrpSpPr/>
          <p:nvPr/>
        </p:nvGrpSpPr>
        <p:grpSpPr>
          <a:xfrm>
            <a:off x="457200" y="1285875"/>
            <a:ext cx="3238500" cy="3381300"/>
            <a:chOff x="0" y="0"/>
            <a:chExt cx="3238500" cy="3381300"/>
          </a:xfrm>
        </p:grpSpPr>
        <p:sp>
          <p:nvSpPr>
            <p:cNvPr id="112" name="Google Shape;112;p17"/>
            <p:cNvSpPr/>
            <p:nvPr/>
          </p:nvSpPr>
          <p:spPr>
            <a:xfrm>
              <a:off x="0" y="0"/>
              <a:ext cx="3238500" cy="3381300"/>
            </a:xfrm>
            <a:prstGeom prst="roundRect">
              <a:avLst>
                <a:gd fmla="val 0" name="adj"/>
              </a:avLst>
            </a:prstGeom>
            <a:solidFill>
              <a:srgbClr val="F4F6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7"/>
            <p:cNvSpPr txBox="1"/>
            <p:nvPr/>
          </p:nvSpPr>
          <p:spPr>
            <a:xfrm>
              <a:off x="228600" y="228600"/>
              <a:ext cx="2781300" cy="29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33">
                  <a:solidFill>
                    <a:srgbClr val="66666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System Architecture &amp; Mechanics</a:t>
              </a:r>
              <a:endParaRPr b="0" sz="833">
                <a:solidFill>
                  <a:srgbClr val="66666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0A0A0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Transparent Proxy Implementation</a:t>
              </a:r>
              <a:endParaRPr b="0" sz="1018">
                <a:solidFill>
                  <a:srgbClr val="0A0A0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The proposed system interposes a Python-based transparent proxy between the human-machine interface (HMI) and the programmable logic controller (PLC).</a:t>
              </a:r>
              <a:endParaRPr b="0" sz="1018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The proxy binds to </a:t>
              </a:r>
              <a:r>
                <a:rPr b="0" lang="en" sz="1018">
                  <a:solidFill>
                    <a:srgbClr val="004B8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port 5020</a:t>
              </a:r>
              <a:r>
                <a:rPr b="0" lang="en" sz="1018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, while direct access to </a:t>
              </a:r>
              <a:r>
                <a:rPr b="0" lang="en" sz="1018">
                  <a:solidFill>
                    <a:srgbClr val="D32F2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port 502</a:t>
              </a:r>
              <a:r>
                <a:rPr b="0" lang="en" sz="1018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is strictly restricted by host firewall rules.</a:t>
              </a:r>
              <a:endParaRPr b="0" sz="1018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b="0" lang="en" sz="1018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It enforces mutual Transport Layer Security (</a:t>
              </a:r>
              <a:r>
                <a:rPr b="0" lang="en" sz="1018">
                  <a:solidFill>
                    <a:srgbClr val="33333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mTLS</a:t>
              </a:r>
              <a:r>
                <a:rPr b="0" lang="en" sz="1018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) with X.509 certificate authentication on the HMI-facing port and forwards only policy-compliant Modbus application data units to the controller, requiring </a:t>
              </a:r>
              <a:r>
                <a:rPr b="0" lang="en" sz="1018">
                  <a:solidFill>
                    <a:srgbClr val="004B8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zero changes</a:t>
              </a:r>
              <a:r>
                <a:rPr b="0" lang="en" sz="1018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to existing PLC firmware.</a:t>
              </a:r>
              <a:endParaRPr b="0" sz="1018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4" name="Google Shape;114;p17"/>
          <p:cNvGrpSpPr/>
          <p:nvPr/>
        </p:nvGrpSpPr>
        <p:grpSpPr>
          <a:xfrm>
            <a:off x="3924300" y="1285875"/>
            <a:ext cx="4762500" cy="3381300"/>
            <a:chOff x="0" y="0"/>
            <a:chExt cx="4762500" cy="3381300"/>
          </a:xfrm>
        </p:grpSpPr>
        <p:sp>
          <p:nvSpPr>
            <p:cNvPr id="115" name="Google Shape;115;p17"/>
            <p:cNvSpPr/>
            <p:nvPr/>
          </p:nvSpPr>
          <p:spPr>
            <a:xfrm>
              <a:off x="0" y="0"/>
              <a:ext cx="4762500" cy="3381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6" name="Google Shape;116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5250" y="95250"/>
              <a:ext cx="4572000" cy="2571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7" name="Google Shape;117;p17"/>
            <p:cNvGrpSpPr/>
            <p:nvPr/>
          </p:nvGrpSpPr>
          <p:grpSpPr>
            <a:xfrm>
              <a:off x="142875" y="2714625"/>
              <a:ext cx="4476900" cy="552600"/>
              <a:chOff x="0" y="0"/>
              <a:chExt cx="4476900" cy="552600"/>
            </a:xfrm>
          </p:grpSpPr>
          <p:sp>
            <p:nvSpPr>
              <p:cNvPr id="118" name="Google Shape;118;p17"/>
              <p:cNvSpPr/>
              <p:nvPr/>
            </p:nvSpPr>
            <p:spPr>
              <a:xfrm>
                <a:off x="0" y="0"/>
                <a:ext cx="4476900" cy="552600"/>
              </a:xfrm>
              <a:prstGeom prst="rect">
                <a:avLst/>
              </a:prstGeom>
              <a:solidFill>
                <a:srgbClr val="F4F6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17"/>
              <p:cNvSpPr txBox="1"/>
              <p:nvPr/>
            </p:nvSpPr>
            <p:spPr>
              <a:xfrm>
                <a:off x="152400" y="95250"/>
                <a:ext cx="41721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698">
                    <a:solidFill>
                      <a:srgbClr val="66666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Key Security Enforcement</a:t>
                </a:r>
                <a:endParaRPr b="0" sz="698">
                  <a:solidFill>
                    <a:srgbClr val="66666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750"/>
                  </a:spcAft>
                  <a:buNone/>
                </a:pPr>
                <a:r>
                  <a:rPr b="0" lang="en" sz="736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mTLS + X.509 Certificate Auth (Port 5020) → ZTA Policy Engine → Modbus TCP Forwarding (Port 502)</a:t>
                </a:r>
                <a:endParaRPr b="0" sz="736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18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25" name="Google Shape;125;p18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457200" y="381000"/>
              <a:ext cx="457200" cy="573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7" name="Google Shape;127;p18"/>
            <p:cNvCxnSpPr/>
            <p:nvPr/>
          </p:nvCxnSpPr>
          <p:spPr>
            <a:xfrm>
              <a:off x="457200" y="1190625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8" name="Google Shape;128;p18"/>
            <p:cNvCxnSpPr/>
            <p:nvPr/>
          </p:nvCxnSpPr>
          <p:spPr>
            <a:xfrm>
              <a:off x="4572000" y="1381125"/>
              <a:ext cx="0" cy="26193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9" name="Google Shape;129;p18"/>
          <p:cNvSpPr txBox="1"/>
          <p:nvPr/>
        </p:nvSpPr>
        <p:spPr>
          <a:xfrm>
            <a:off x="457200" y="514350"/>
            <a:ext cx="82296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The deterministic policy engine eliminates the write-injection surface by strictly whitelisting read operations.</a:t>
            </a:r>
            <a:endParaRPr b="1" sz="2000">
              <a:solidFill>
                <a:srgbClr val="0A0A0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30" name="Google Shape;130;p18"/>
          <p:cNvGrpSpPr/>
          <p:nvPr/>
        </p:nvGrpSpPr>
        <p:grpSpPr>
          <a:xfrm>
            <a:off x="457200" y="1381125"/>
            <a:ext cx="3924300" cy="2495700"/>
            <a:chOff x="0" y="0"/>
            <a:chExt cx="3924300" cy="2495700"/>
          </a:xfrm>
        </p:grpSpPr>
        <p:grpSp>
          <p:nvGrpSpPr>
            <p:cNvPr id="131" name="Google Shape;131;p18"/>
            <p:cNvGrpSpPr/>
            <p:nvPr/>
          </p:nvGrpSpPr>
          <p:grpSpPr>
            <a:xfrm>
              <a:off x="0" y="19050"/>
              <a:ext cx="182880" cy="182880"/>
              <a:chOff x="0" y="0"/>
              <a:chExt cx="228600" cy="228600"/>
            </a:xfrm>
          </p:grpSpPr>
          <p:sp>
            <p:nvSpPr>
              <p:cNvPr id="132" name="Google Shape;132;p18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18"/>
              <p:cNvSpPr/>
              <p:nvPr/>
            </p:nvSpPr>
            <p:spPr>
              <a:xfrm>
                <a:off x="66675" y="76200"/>
                <a:ext cx="95400" cy="66600"/>
              </a:xfrm>
              <a:custGeom>
                <a:rect b="b" l="l" r="r" t="t"/>
                <a:pathLst>
                  <a:path extrusionOk="0" h="120000" w="120000">
                    <a:moveTo>
                      <a:pt x="0" y="68571"/>
                    </a:moveTo>
                    <a:lnTo>
                      <a:pt x="36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004B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4" name="Google Shape;134;p18"/>
            <p:cNvSpPr txBox="1"/>
            <p:nvPr/>
          </p:nvSpPr>
          <p:spPr>
            <a:xfrm>
              <a:off x="304800" y="0"/>
              <a:ext cx="3619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en" sz="1100">
                  <a:solidFill>
                    <a:srgbClr val="004B8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WHITELISTED READ OPERATIONS (PERMITTED)</a:t>
              </a:r>
              <a:endParaRPr b="0" sz="1100">
                <a:solidFill>
                  <a:srgbClr val="004B8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35" name="Google Shape;135;p18"/>
            <p:cNvSpPr txBox="1"/>
            <p:nvPr/>
          </p:nvSpPr>
          <p:spPr>
            <a:xfrm>
              <a:off x="304800" y="304800"/>
              <a:ext cx="36195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The proxy strictly permits read-only function codes to ensure total operational visibility without write risk:</a:t>
              </a:r>
              <a:endParaRPr b="0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100">
                  <a:solidFill>
                    <a:srgbClr val="0A0A0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FC01:</a:t>
              </a:r>
              <a:r>
                <a:rPr b="0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Read Coils</a:t>
              </a:r>
              <a:endParaRPr b="0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45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100">
                  <a:solidFill>
                    <a:srgbClr val="0A0A0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FC02:</a:t>
              </a:r>
              <a:r>
                <a:rPr b="0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Read Discrete Inputs</a:t>
              </a:r>
              <a:endParaRPr b="0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45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100">
                  <a:solidFill>
                    <a:srgbClr val="0A0A0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FC03:</a:t>
              </a:r>
              <a:r>
                <a:rPr b="0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Read Holding Registers</a:t>
              </a:r>
              <a:endParaRPr b="0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450"/>
                </a:spcBef>
                <a:spcAft>
                  <a:spcPts val="450"/>
                </a:spcAft>
                <a:buSzPts val="1400"/>
                <a:buChar char="●"/>
              </a:pPr>
              <a:r>
                <a:rPr b="0" lang="en" sz="1100">
                  <a:solidFill>
                    <a:srgbClr val="0A0A0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FC04:</a:t>
              </a:r>
              <a:r>
                <a:rPr b="0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Read Input Registers</a:t>
              </a:r>
              <a:endParaRPr b="0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6" name="Google Shape;136;p18"/>
          <p:cNvGrpSpPr/>
          <p:nvPr/>
        </p:nvGrpSpPr>
        <p:grpSpPr>
          <a:xfrm>
            <a:off x="4876800" y="1381125"/>
            <a:ext cx="3924300" cy="2495700"/>
            <a:chOff x="0" y="0"/>
            <a:chExt cx="3924300" cy="2495700"/>
          </a:xfrm>
        </p:grpSpPr>
        <p:grpSp>
          <p:nvGrpSpPr>
            <p:cNvPr id="137" name="Google Shape;137;p18"/>
            <p:cNvGrpSpPr/>
            <p:nvPr/>
          </p:nvGrpSpPr>
          <p:grpSpPr>
            <a:xfrm>
              <a:off x="0" y="19050"/>
              <a:ext cx="182880" cy="182880"/>
              <a:chOff x="0" y="0"/>
              <a:chExt cx="228600" cy="228600"/>
            </a:xfrm>
          </p:grpSpPr>
          <p:sp>
            <p:nvSpPr>
              <p:cNvPr id="138" name="Google Shape;138;p18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FEE2E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18"/>
              <p:cNvSpPr/>
              <p:nvPr/>
            </p:nvSpPr>
            <p:spPr>
              <a:xfrm>
                <a:off x="114300" y="66675"/>
                <a:ext cx="0" cy="95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72000"/>
                    </a:lnTo>
                    <a:moveTo>
                      <a:pt x="0" y="120000"/>
                    </a:move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D32F2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0" name="Google Shape;140;p18"/>
            <p:cNvSpPr txBox="1"/>
            <p:nvPr/>
          </p:nvSpPr>
          <p:spPr>
            <a:xfrm>
              <a:off x="304800" y="0"/>
              <a:ext cx="3619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en" sz="1100">
                  <a:solidFill>
                    <a:srgbClr val="D32F2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BLOCKED WRITE OPERATIONS (RESTRICTED)</a:t>
              </a:r>
              <a:endParaRPr b="0" sz="1100">
                <a:solidFill>
                  <a:srgbClr val="D32F2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41" name="Google Shape;141;p18"/>
            <p:cNvSpPr txBox="1"/>
            <p:nvPr/>
          </p:nvSpPr>
          <p:spPr>
            <a:xfrm>
              <a:off x="304800" y="304800"/>
              <a:ext cx="36195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All write-class function codes are intercepted and blocked immediately to prevent unauthorized state changes:</a:t>
              </a:r>
              <a:endParaRPr b="0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100">
                  <a:solidFill>
                    <a:srgbClr val="0A0A0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FC05:</a:t>
              </a:r>
              <a:r>
                <a:rPr b="0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Write Single Coil</a:t>
              </a:r>
              <a:endParaRPr b="0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45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100">
                  <a:solidFill>
                    <a:srgbClr val="0A0A0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FC06:</a:t>
              </a:r>
              <a:r>
                <a:rPr b="0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Write Single Register</a:t>
              </a:r>
              <a:endParaRPr b="0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45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100">
                  <a:solidFill>
                    <a:srgbClr val="0A0A0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FC0F:</a:t>
              </a:r>
              <a:r>
                <a:rPr b="0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Write Multiple Coils</a:t>
              </a:r>
              <a:endParaRPr b="0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450"/>
                </a:spcBef>
                <a:spcAft>
                  <a:spcPts val="450"/>
                </a:spcAft>
                <a:buSzPts val="1400"/>
                <a:buChar char="●"/>
              </a:pPr>
              <a:r>
                <a:rPr b="0" lang="en" sz="1100">
                  <a:solidFill>
                    <a:srgbClr val="0A0A0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FC10:</a:t>
              </a:r>
              <a:r>
                <a:rPr b="0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Write Multiple Registers</a:t>
              </a:r>
              <a:endParaRPr b="0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2" name="Google Shape;142;p18"/>
          <p:cNvGrpSpPr/>
          <p:nvPr/>
        </p:nvGrpSpPr>
        <p:grpSpPr>
          <a:xfrm>
            <a:off x="457200" y="4143375"/>
            <a:ext cx="8229600" cy="714300"/>
            <a:chOff x="0" y="0"/>
            <a:chExt cx="8229600" cy="714300"/>
          </a:xfrm>
        </p:grpSpPr>
        <p:sp>
          <p:nvSpPr>
            <p:cNvPr id="143" name="Google Shape;143;p18"/>
            <p:cNvSpPr/>
            <p:nvPr/>
          </p:nvSpPr>
          <p:spPr>
            <a:xfrm>
              <a:off x="0" y="0"/>
              <a:ext cx="8229600" cy="714300"/>
            </a:xfrm>
            <a:prstGeom prst="roundRect">
              <a:avLst>
                <a:gd fmla="val 0" name="adj"/>
              </a:avLst>
            </a:prstGeom>
            <a:solidFill>
              <a:srgbClr val="F4F6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4" name="Google Shape;144;p18"/>
            <p:cNvCxnSpPr/>
            <p:nvPr/>
          </p:nvCxnSpPr>
          <p:spPr>
            <a:xfrm>
              <a:off x="0" y="0"/>
              <a:ext cx="0" cy="714300"/>
            </a:xfrm>
            <a:prstGeom prst="straightConnector1">
              <a:avLst/>
            </a:prstGeom>
            <a:solidFill>
              <a:srgbClr val="FFFFFF"/>
            </a:solidFill>
            <a:ln cap="flat" cmpd="sng" w="38100">
              <a:solidFill>
                <a:srgbClr val="004B87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5" name="Google Shape;145;p18"/>
            <p:cNvSpPr txBox="1"/>
            <p:nvPr/>
          </p:nvSpPr>
          <p:spPr>
            <a:xfrm>
              <a:off x="190500" y="114300"/>
              <a:ext cx="78486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33">
                  <a:solidFill>
                    <a:srgbClr val="66666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DETERMINISTIC POLICY ENGINE SPECIFICATIONS</a:t>
              </a:r>
              <a:endParaRPr b="0" sz="833">
                <a:solidFill>
                  <a:srgbClr val="66666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Operates with a formally bounded decision latency of </a:t>
              </a:r>
              <a:r>
                <a:rPr b="0" lang="en" sz="1018">
                  <a:solidFill>
                    <a:srgbClr val="004B8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under 50 µs</a:t>
              </a:r>
              <a:r>
                <a:rPr b="0" lang="en" sz="1018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. Unauthorized function codes immediately receive a Modbus exception response, deterministically eliminating write-injection vectors without probabilistic anomaly detection.</a:t>
              </a:r>
              <a:endParaRPr b="0" sz="1018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19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51" name="Google Shape;151;p19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9"/>
            <p:cNvSpPr/>
            <p:nvPr/>
          </p:nvSpPr>
          <p:spPr>
            <a:xfrm>
              <a:off x="457200" y="457200"/>
              <a:ext cx="457200" cy="573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3" name="Google Shape;153;p19"/>
            <p:cNvCxnSpPr/>
            <p:nvPr/>
          </p:nvCxnSpPr>
          <p:spPr>
            <a:xfrm>
              <a:off x="457200" y="11430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54" name="Google Shape;154;p19"/>
          <p:cNvSpPr txBox="1"/>
          <p:nvPr/>
        </p:nvSpPr>
        <p:spPr>
          <a:xfrm>
            <a:off x="457200" y="571500"/>
            <a:ext cx="82296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mTLS with X.509 certificates ensures per-session authentication and forward secrecy.</a:t>
            </a:r>
            <a:endParaRPr b="1" sz="1700">
              <a:solidFill>
                <a:srgbClr val="0A0A0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55" name="Google Shape;155;p19"/>
          <p:cNvGrpSpPr/>
          <p:nvPr/>
        </p:nvGrpSpPr>
        <p:grpSpPr>
          <a:xfrm>
            <a:off x="457200" y="1381125"/>
            <a:ext cx="8229600" cy="1733700"/>
            <a:chOff x="0" y="0"/>
            <a:chExt cx="8229600" cy="1733700"/>
          </a:xfrm>
        </p:grpSpPr>
        <p:grpSp>
          <p:nvGrpSpPr>
            <p:cNvPr id="156" name="Google Shape;156;p19"/>
            <p:cNvGrpSpPr/>
            <p:nvPr/>
          </p:nvGrpSpPr>
          <p:grpSpPr>
            <a:xfrm>
              <a:off x="0" y="0"/>
              <a:ext cx="2514600" cy="1733700"/>
              <a:chOff x="0" y="0"/>
              <a:chExt cx="2514600" cy="1733700"/>
            </a:xfrm>
          </p:grpSpPr>
          <p:sp>
            <p:nvSpPr>
              <p:cNvPr id="157" name="Google Shape;157;p19"/>
              <p:cNvSpPr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solidFill>
                <a:srgbClr val="004B8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9"/>
              <p:cNvSpPr txBox="1"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1</a:t>
                </a:r>
                <a:endParaRPr b="0" sz="10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59" name="Google Shape;159;p19"/>
              <p:cNvSpPr txBox="1"/>
              <p:nvPr/>
            </p:nvSpPr>
            <p:spPr>
              <a:xfrm>
                <a:off x="0" y="304800"/>
                <a:ext cx="25146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0A0A0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3-Tier PKI &amp; Issuance</a:t>
                </a:r>
                <a:endParaRPr b="0" sz="1200">
                  <a:solidFill>
                    <a:srgbClr val="0A0A0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The architecture relies on a three-tier Public Key Infrastructure (PKI) generated using OpenSSL 3.0.2.</a:t>
                </a:r>
                <a:endParaRPr b="0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b="0" lang="en" sz="1100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Component certificates are issued for the proxy server and authorized HMI clients.</a:t>
                </a:r>
                <a:endParaRPr b="0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60" name="Google Shape;160;p19"/>
            <p:cNvGrpSpPr/>
            <p:nvPr/>
          </p:nvGrpSpPr>
          <p:grpSpPr>
            <a:xfrm>
              <a:off x="2552700" y="533400"/>
              <a:ext cx="209700" cy="76200"/>
              <a:chOff x="0" y="-38100"/>
              <a:chExt cx="209700" cy="76200"/>
            </a:xfrm>
          </p:grpSpPr>
          <p:cxnSp>
            <p:nvCxnSpPr>
              <p:cNvPr id="161" name="Google Shape;161;p19"/>
              <p:cNvCxnSpPr/>
              <p:nvPr/>
            </p:nvCxnSpPr>
            <p:spPr>
              <a:xfrm>
                <a:off x="0" y="0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004B8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62" name="Google Shape;162;p19"/>
              <p:cNvSpPr/>
              <p:nvPr/>
            </p:nvSpPr>
            <p:spPr>
              <a:xfrm>
                <a:off x="152400" y="-38100"/>
                <a:ext cx="57300" cy="762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04B8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9"/>
            <p:cNvGrpSpPr/>
            <p:nvPr/>
          </p:nvGrpSpPr>
          <p:grpSpPr>
            <a:xfrm>
              <a:off x="2857500" y="0"/>
              <a:ext cx="2514600" cy="1733700"/>
              <a:chOff x="0" y="0"/>
              <a:chExt cx="2514600" cy="1733700"/>
            </a:xfrm>
          </p:grpSpPr>
          <p:sp>
            <p:nvSpPr>
              <p:cNvPr id="164" name="Google Shape;164;p19"/>
              <p:cNvSpPr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solidFill>
                <a:srgbClr val="004B8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9"/>
              <p:cNvSpPr txBox="1"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2</a:t>
                </a:r>
                <a:endParaRPr b="0" sz="10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66" name="Google Shape;166;p19"/>
              <p:cNvSpPr txBox="1"/>
              <p:nvPr/>
            </p:nvSpPr>
            <p:spPr>
              <a:xfrm>
                <a:off x="0" y="304800"/>
                <a:ext cx="25146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0A0A0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TLS Handshake Verification</a:t>
                </a:r>
                <a:endParaRPr b="0" sz="1200">
                  <a:solidFill>
                    <a:srgbClr val="0A0A0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The proxy enforces a minimum protocol version of TLS 1.2.</a:t>
                </a:r>
                <a:endParaRPr b="0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b="0" lang="en" sz="1100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Requires a CA-signed client certificate before any Modbus byte is transmitted.</a:t>
                </a:r>
                <a:endParaRPr b="0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67" name="Google Shape;167;p19"/>
            <p:cNvGrpSpPr/>
            <p:nvPr/>
          </p:nvGrpSpPr>
          <p:grpSpPr>
            <a:xfrm>
              <a:off x="5410200" y="533400"/>
              <a:ext cx="209700" cy="76200"/>
              <a:chOff x="0" y="-38100"/>
              <a:chExt cx="209700" cy="76200"/>
            </a:xfrm>
          </p:grpSpPr>
          <p:cxnSp>
            <p:nvCxnSpPr>
              <p:cNvPr id="168" name="Google Shape;168;p19"/>
              <p:cNvCxnSpPr/>
              <p:nvPr/>
            </p:nvCxnSpPr>
            <p:spPr>
              <a:xfrm>
                <a:off x="0" y="0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004B8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69" name="Google Shape;169;p19"/>
              <p:cNvSpPr/>
              <p:nvPr/>
            </p:nvSpPr>
            <p:spPr>
              <a:xfrm>
                <a:off x="152400" y="-38100"/>
                <a:ext cx="57300" cy="762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04B8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0" name="Google Shape;170;p19"/>
            <p:cNvGrpSpPr/>
            <p:nvPr/>
          </p:nvGrpSpPr>
          <p:grpSpPr>
            <a:xfrm>
              <a:off x="5715000" y="0"/>
              <a:ext cx="2514600" cy="1733700"/>
              <a:chOff x="0" y="0"/>
              <a:chExt cx="2514600" cy="1733700"/>
            </a:xfrm>
          </p:grpSpPr>
          <p:sp>
            <p:nvSpPr>
              <p:cNvPr id="171" name="Google Shape;171;p19"/>
              <p:cNvSpPr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solidFill>
                <a:srgbClr val="004B8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9"/>
              <p:cNvSpPr txBox="1"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3</a:t>
                </a:r>
                <a:endParaRPr b="0" sz="10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73" name="Google Shape;173;p19"/>
              <p:cNvSpPr txBox="1"/>
              <p:nvPr/>
            </p:nvSpPr>
            <p:spPr>
              <a:xfrm>
                <a:off x="0" y="304800"/>
                <a:ext cx="25146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0A0A0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ECDHE Key Exchange</a:t>
                </a:r>
                <a:endParaRPr b="0" sz="1200">
                  <a:solidFill>
                    <a:srgbClr val="0A0A0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The TLS handshake employs ECDHE key exchange, providing forward secrecy by using ephemeral session keys.</a:t>
                </a:r>
                <a:endParaRPr b="0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b="0" lang="en" sz="1100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Renders captured ciphertext completely undecipherable.</a:t>
                </a:r>
                <a:endParaRPr b="0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74" name="Google Shape;174;p19"/>
          <p:cNvGrpSpPr/>
          <p:nvPr/>
        </p:nvGrpSpPr>
        <p:grpSpPr>
          <a:xfrm>
            <a:off x="457200" y="3190875"/>
            <a:ext cx="8229600" cy="1476300"/>
            <a:chOff x="0" y="0"/>
            <a:chExt cx="8229600" cy="1476300"/>
          </a:xfrm>
        </p:grpSpPr>
        <p:sp>
          <p:nvSpPr>
            <p:cNvPr id="175" name="Google Shape;175;p19"/>
            <p:cNvSpPr/>
            <p:nvPr/>
          </p:nvSpPr>
          <p:spPr>
            <a:xfrm>
              <a:off x="0" y="0"/>
              <a:ext cx="8229600" cy="1476300"/>
            </a:xfrm>
            <a:prstGeom prst="roundRect">
              <a:avLst>
                <a:gd fmla="val 0" name="adj"/>
              </a:avLst>
            </a:prstGeom>
            <a:solidFill>
              <a:srgbClr val="F4F6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9"/>
            <p:cNvSpPr txBox="1"/>
            <p:nvPr/>
          </p:nvSpPr>
          <p:spPr>
            <a:xfrm>
              <a:off x="228600" y="190500"/>
              <a:ext cx="34290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6666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SECURITY ENFORCEMENT SUMMARY</a:t>
              </a:r>
              <a:endParaRPr b="0" sz="900">
                <a:solidFill>
                  <a:srgbClr val="66666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04B8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Strict Mutual Authentication</a:t>
              </a:r>
              <a:endParaRPr b="0" sz="1200">
                <a:solidFill>
                  <a:srgbClr val="004B8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By terminating TLS at the proxy and enforcing client certificate validation before Modbus payload processing, unauthorized traffic is filtered at the transport layer.</a:t>
              </a:r>
              <a:endParaRPr b="0" sz="10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177" name="Google Shape;177;p19"/>
            <p:cNvCxnSpPr/>
            <p:nvPr/>
          </p:nvCxnSpPr>
          <p:spPr>
            <a:xfrm>
              <a:off x="3886200" y="190500"/>
              <a:ext cx="0" cy="10953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78" name="Google Shape;178;p19"/>
            <p:cNvGrpSpPr/>
            <p:nvPr/>
          </p:nvGrpSpPr>
          <p:grpSpPr>
            <a:xfrm>
              <a:off x="4114800" y="381000"/>
              <a:ext cx="3905250" cy="666900"/>
              <a:chOff x="0" y="142875"/>
              <a:chExt cx="3905250" cy="666900"/>
            </a:xfrm>
          </p:grpSpPr>
          <p:sp>
            <p:nvSpPr>
              <p:cNvPr id="179" name="Google Shape;179;p19"/>
              <p:cNvSpPr/>
              <p:nvPr/>
            </p:nvSpPr>
            <p:spPr>
              <a:xfrm>
                <a:off x="0" y="238125"/>
                <a:ext cx="952500" cy="476400"/>
              </a:xfrm>
              <a:prstGeom prst="rect">
                <a:avLst/>
              </a:prstGeom>
              <a:solidFill>
                <a:srgbClr val="FFFFFF"/>
              </a:solidFill>
              <a:ln cap="flat" cmpd="sng" w="14300">
                <a:solidFill>
                  <a:srgbClr val="004B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9"/>
              <p:cNvSpPr txBox="1"/>
              <p:nvPr/>
            </p:nvSpPr>
            <p:spPr>
              <a:xfrm>
                <a:off x="0" y="304800"/>
                <a:ext cx="9525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0A0A0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HMI CLIENT</a:t>
                </a:r>
                <a:endParaRPr b="0" sz="900">
                  <a:solidFill>
                    <a:srgbClr val="0A0A0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450"/>
                  </a:spcAft>
                  <a:buNone/>
                </a:pPr>
                <a:r>
                  <a:rPr b="0" lang="en" sz="700">
                    <a:solidFill>
                      <a:srgbClr val="66666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X.509 Cert</a:t>
                </a:r>
                <a:endParaRPr b="0" sz="700">
                  <a:solidFill>
                    <a:srgbClr val="66666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pic>
            <p:nvPicPr>
              <p:cNvPr id="181" name="Google Shape;181;p1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952500" y="466725"/>
                <a:ext cx="5430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2" name="Google Shape;182;p19"/>
              <p:cNvSpPr txBox="1"/>
              <p:nvPr/>
            </p:nvSpPr>
            <p:spPr>
              <a:xfrm>
                <a:off x="952500" y="285750"/>
                <a:ext cx="5715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b="0" lang="en" sz="700">
                    <a:solidFill>
                      <a:srgbClr val="004B8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mTLS 1.2</a:t>
                </a:r>
                <a:endParaRPr b="0" sz="700">
                  <a:solidFill>
                    <a:srgbClr val="004B8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83" name="Google Shape;183;p19"/>
              <p:cNvSpPr/>
              <p:nvPr/>
            </p:nvSpPr>
            <p:spPr>
              <a:xfrm>
                <a:off x="1524000" y="142875"/>
                <a:ext cx="1143000" cy="666900"/>
              </a:xfrm>
              <a:prstGeom prst="rect">
                <a:avLst/>
              </a:prstGeom>
              <a:solidFill>
                <a:srgbClr val="004B8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19"/>
              <p:cNvSpPr txBox="1"/>
              <p:nvPr/>
            </p:nvSpPr>
            <p:spPr>
              <a:xfrm>
                <a:off x="1524000" y="266700"/>
                <a:ext cx="11430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ZTA PROXY</a:t>
                </a:r>
                <a:endParaRPr b="0" sz="95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450"/>
                  </a:spcAft>
                  <a:buNone/>
                </a:pPr>
                <a:r>
                  <a:rPr b="0" lang="en" sz="75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ECDHE Validation</a:t>
                </a:r>
                <a:endParaRPr b="0" sz="75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cxnSp>
            <p:nvCxnSpPr>
              <p:cNvPr id="185" name="Google Shape;185;p19"/>
              <p:cNvCxnSpPr/>
              <p:nvPr/>
            </p:nvCxnSpPr>
            <p:spPr>
              <a:xfrm>
                <a:off x="2667000" y="476250"/>
                <a:ext cx="4764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86" name="Google Shape;186;p19"/>
              <p:cNvSpPr txBox="1"/>
              <p:nvPr/>
            </p:nvSpPr>
            <p:spPr>
              <a:xfrm>
                <a:off x="2667000" y="285750"/>
                <a:ext cx="4764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b="0" lang="en" sz="700">
                    <a:solidFill>
                      <a:srgbClr val="66666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MODBUS</a:t>
                </a:r>
                <a:endParaRPr b="0" sz="700">
                  <a:solidFill>
                    <a:srgbClr val="66666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87" name="Google Shape;187;p19"/>
              <p:cNvSpPr/>
              <p:nvPr/>
            </p:nvSpPr>
            <p:spPr>
              <a:xfrm>
                <a:off x="3143250" y="238125"/>
                <a:ext cx="762000" cy="476400"/>
              </a:xfrm>
              <a:prstGeom prst="rect">
                <a:avLst/>
              </a:prstGeom>
              <a:solidFill>
                <a:srgbClr val="FFFFFF"/>
              </a:solidFill>
              <a:ln cap="flat" cmpd="sng" w="14300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9"/>
              <p:cNvSpPr txBox="1"/>
              <p:nvPr/>
            </p:nvSpPr>
            <p:spPr>
              <a:xfrm>
                <a:off x="3143250" y="361950"/>
                <a:ext cx="762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b="0" lang="en" sz="900">
                    <a:solidFill>
                      <a:srgbClr val="0A0A0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MODBUS</a:t>
                </a:r>
                <a:endParaRPr b="0" sz="900">
                  <a:solidFill>
                    <a:srgbClr val="0A0A0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20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94" name="Google Shape;194;p20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0"/>
            <p:cNvSpPr/>
            <p:nvPr/>
          </p:nvSpPr>
          <p:spPr>
            <a:xfrm>
              <a:off x="457200" y="457200"/>
              <a:ext cx="457200" cy="573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6" name="Google Shape;196;p20"/>
            <p:cNvCxnSpPr/>
            <p:nvPr/>
          </p:nvCxnSpPr>
          <p:spPr>
            <a:xfrm>
              <a:off x="457200" y="11430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97" name="Google Shape;197;p20"/>
          <p:cNvSpPr txBox="1"/>
          <p:nvPr/>
        </p:nvSpPr>
        <p:spPr>
          <a:xfrm>
            <a:off x="457200" y="609600"/>
            <a:ext cx="8229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The ZTA proxy was validated on an open-source, hardware-in-the-loop water distribution testbed.</a:t>
            </a:r>
            <a:endParaRPr b="1" sz="1550">
              <a:solidFill>
                <a:srgbClr val="0A0A0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98" name="Google Shape;198;p20"/>
          <p:cNvGrpSpPr/>
          <p:nvPr/>
        </p:nvGrpSpPr>
        <p:grpSpPr>
          <a:xfrm>
            <a:off x="457200" y="1371600"/>
            <a:ext cx="3810000" cy="3333750"/>
            <a:chOff x="0" y="0"/>
            <a:chExt cx="3810000" cy="3333750"/>
          </a:xfrm>
        </p:grpSpPr>
        <p:pic>
          <p:nvPicPr>
            <p:cNvPr id="199" name="Google Shape;199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3810000" cy="2857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" name="Google Shape;200;p20"/>
            <p:cNvSpPr txBox="1"/>
            <p:nvPr/>
          </p:nvSpPr>
          <p:spPr>
            <a:xfrm>
              <a:off x="0" y="2952750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0" lang="en" sz="1000">
                  <a:solidFill>
                    <a:srgbClr val="66666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FIGURE 1: WATER DISTRIBUTION SYSTEM ARCHITECTURE</a:t>
              </a:r>
              <a:endParaRPr b="0" sz="1000">
                <a:solidFill>
                  <a:srgbClr val="66666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01" name="Google Shape;201;p20"/>
          <p:cNvGrpSpPr/>
          <p:nvPr/>
        </p:nvGrpSpPr>
        <p:grpSpPr>
          <a:xfrm>
            <a:off x="4495800" y="1371600"/>
            <a:ext cx="4191000" cy="952500"/>
            <a:chOff x="0" y="0"/>
            <a:chExt cx="4191000" cy="952500"/>
          </a:xfrm>
        </p:grpSpPr>
        <p:sp>
          <p:nvSpPr>
            <p:cNvPr id="202" name="Google Shape;202;p20"/>
            <p:cNvSpPr/>
            <p:nvPr/>
          </p:nvSpPr>
          <p:spPr>
            <a:xfrm>
              <a:off x="0" y="0"/>
              <a:ext cx="4191000" cy="95250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0"/>
            <p:cNvSpPr txBox="1"/>
            <p:nvPr/>
          </p:nvSpPr>
          <p:spPr>
            <a:xfrm>
              <a:off x="190500" y="152400"/>
              <a:ext cx="3810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66666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PHYSICAL PROCESS SIMULATION</a:t>
              </a:r>
              <a:endParaRPr b="0" sz="925">
                <a:solidFill>
                  <a:srgbClr val="66666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600"/>
                </a:spcAft>
                <a:buNone/>
              </a:pPr>
              <a:r>
                <a:rPr b="0" lang="en" sz="1018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The experimental system models a water distribution process featuring a main supply tank and three sub-tanks controlled by binary valves.</a:t>
              </a:r>
              <a:endParaRPr b="0" sz="1018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4" name="Google Shape;204;p20"/>
          <p:cNvGrpSpPr/>
          <p:nvPr/>
        </p:nvGrpSpPr>
        <p:grpSpPr>
          <a:xfrm>
            <a:off x="4495800" y="2438400"/>
            <a:ext cx="4191000" cy="1047900"/>
            <a:chOff x="0" y="0"/>
            <a:chExt cx="4191000" cy="1047900"/>
          </a:xfrm>
        </p:grpSpPr>
        <p:sp>
          <p:nvSpPr>
            <p:cNvPr id="205" name="Google Shape;205;p20"/>
            <p:cNvSpPr/>
            <p:nvPr/>
          </p:nvSpPr>
          <p:spPr>
            <a:xfrm>
              <a:off x="0" y="0"/>
              <a:ext cx="4191000" cy="104790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0"/>
            <p:cNvSpPr txBox="1"/>
            <p:nvPr/>
          </p:nvSpPr>
          <p:spPr>
            <a:xfrm>
              <a:off x="190500" y="152400"/>
              <a:ext cx="381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66666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RUNTIME ENVIRONMENT &amp; CONTROL</a:t>
              </a:r>
              <a:endParaRPr b="0" sz="850">
                <a:solidFill>
                  <a:srgbClr val="66666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600"/>
                </a:spcAft>
                <a:buNone/>
              </a:pPr>
              <a:r>
                <a:rPr b="0" lang="en" sz="935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The PLC program executes via OpenPLC Runtime v3.0 under IEC 61131-3 Structured Text on an Ubuntu 22.04 LTS virtual machine. Fluid transfer is modeled at a nominal rate of 0.4 units per 100 ms cycle.</a:t>
              </a:r>
              <a:endParaRPr b="0" sz="935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7" name="Google Shape;207;p20"/>
          <p:cNvGrpSpPr/>
          <p:nvPr/>
        </p:nvGrpSpPr>
        <p:grpSpPr>
          <a:xfrm>
            <a:off x="4495800" y="3600450"/>
            <a:ext cx="4191000" cy="857400"/>
            <a:chOff x="0" y="0"/>
            <a:chExt cx="4191000" cy="857400"/>
          </a:xfrm>
        </p:grpSpPr>
        <p:sp>
          <p:nvSpPr>
            <p:cNvPr id="208" name="Google Shape;208;p20"/>
            <p:cNvSpPr/>
            <p:nvPr/>
          </p:nvSpPr>
          <p:spPr>
            <a:xfrm>
              <a:off x="0" y="0"/>
              <a:ext cx="4191000" cy="85740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0"/>
            <p:cNvSpPr txBox="1"/>
            <p:nvPr/>
          </p:nvSpPr>
          <p:spPr>
            <a:xfrm>
              <a:off x="190500" y="152400"/>
              <a:ext cx="381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6666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OPEN-SOURCE REPRODUCIBILITY</a:t>
              </a:r>
              <a:endParaRPr b="0" sz="1000">
                <a:solidFill>
                  <a:srgbClr val="66666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600"/>
                </a:spcAft>
                <a:buNone/>
              </a:pPr>
              <a:r>
                <a:rPr b="0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The testbed, certificates, proxy, and attack scripts are entirely open-source.</a:t>
              </a:r>
              <a:endParaRPr b="0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" name="Google Shape;214;p21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15" name="Google Shape;215;p21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1"/>
            <p:cNvSpPr/>
            <p:nvPr/>
          </p:nvSpPr>
          <p:spPr>
            <a:xfrm>
              <a:off x="457200" y="381000"/>
              <a:ext cx="457200" cy="573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7" name="Google Shape;217;p21"/>
            <p:cNvCxnSpPr/>
            <p:nvPr/>
          </p:nvCxnSpPr>
          <p:spPr>
            <a:xfrm>
              <a:off x="457200" y="10287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18" name="Google Shape;218;p21"/>
          <p:cNvSpPr txBox="1"/>
          <p:nvPr/>
        </p:nvSpPr>
        <p:spPr>
          <a:xfrm>
            <a:off x="457200" y="51435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The system was rigorously evaluated against five distinct attack categories mapped to STRIDE.</a:t>
            </a:r>
            <a:endParaRPr b="1" sz="1400">
              <a:solidFill>
                <a:srgbClr val="0A0A0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19" name="Google Shape;219;p21"/>
          <p:cNvGrpSpPr/>
          <p:nvPr/>
        </p:nvGrpSpPr>
        <p:grpSpPr>
          <a:xfrm>
            <a:off x="457200" y="1200150"/>
            <a:ext cx="3238500" cy="3524400"/>
            <a:chOff x="0" y="0"/>
            <a:chExt cx="3238500" cy="3524400"/>
          </a:xfrm>
        </p:grpSpPr>
        <p:sp>
          <p:nvSpPr>
            <p:cNvPr id="220" name="Google Shape;220;p21"/>
            <p:cNvSpPr/>
            <p:nvPr/>
          </p:nvSpPr>
          <p:spPr>
            <a:xfrm>
              <a:off x="0" y="0"/>
              <a:ext cx="3238500" cy="3524400"/>
            </a:xfrm>
            <a:prstGeom prst="roundRect">
              <a:avLst>
                <a:gd fmla="val 588" name="adj"/>
              </a:avLst>
            </a:prstGeom>
            <a:solidFill>
              <a:srgbClr val="FFFFFF"/>
            </a:solidFill>
            <a:ln cap="flat" cmpd="sng" w="9525">
              <a:solidFill>
                <a:srgbClr val="004B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1"/>
            <p:cNvSpPr/>
            <p:nvPr/>
          </p:nvSpPr>
          <p:spPr>
            <a:xfrm>
              <a:off x="0" y="0"/>
              <a:ext cx="3238500" cy="381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1"/>
            <p:cNvSpPr txBox="1"/>
            <p:nvPr/>
          </p:nvSpPr>
          <p:spPr>
            <a:xfrm>
              <a:off x="228600" y="228600"/>
              <a:ext cx="2781300" cy="306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04B8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Adversary Model &amp; Setup</a:t>
              </a:r>
              <a:endParaRPr b="0" sz="900">
                <a:solidFill>
                  <a:srgbClr val="004B8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A0A0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Host Specification &amp; Capabilities</a:t>
              </a:r>
              <a:endParaRPr b="0" sz="1300">
                <a:solidFill>
                  <a:srgbClr val="0A0A0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The adversary is modeled as a host with </a:t>
              </a:r>
              <a:r>
                <a:rPr b="1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TCP/IP reachability</a:t>
              </a:r>
              <a:r>
                <a:rPr b="0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to the OT network.</a:t>
              </a:r>
              <a:endParaRPr b="0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Possesses domain knowledge of </a:t>
              </a:r>
              <a:r>
                <a:rPr b="1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Modbus TCP</a:t>
              </a:r>
              <a:r>
                <a:rPr b="0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protocol specifications and the target </a:t>
              </a:r>
              <a:r>
                <a:rPr b="1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PLC register map</a:t>
              </a:r>
              <a:r>
                <a:rPr b="0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The evaluation utilized standard penetration-testing tools across five distinct threat scenarios.</a:t>
              </a:r>
              <a:endParaRPr b="0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3" name="Google Shape;223;p21"/>
          <p:cNvGrpSpPr/>
          <p:nvPr/>
        </p:nvGrpSpPr>
        <p:grpSpPr>
          <a:xfrm>
            <a:off x="3924300" y="1200150"/>
            <a:ext cx="4762500" cy="3390900"/>
            <a:chOff x="0" y="0"/>
            <a:chExt cx="4762500" cy="3390900"/>
          </a:xfrm>
        </p:grpSpPr>
        <p:sp>
          <p:nvSpPr>
            <p:cNvPr id="224" name="Google Shape;224;p21"/>
            <p:cNvSpPr txBox="1"/>
            <p:nvPr/>
          </p:nvSpPr>
          <p:spPr>
            <a:xfrm>
              <a:off x="0" y="0"/>
              <a:ext cx="4762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04B8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Evaluated STRIDE Threat Scenarios</a:t>
              </a:r>
              <a:endParaRPr b="0" sz="900">
                <a:solidFill>
                  <a:srgbClr val="004B8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225" name="Google Shape;225;p21"/>
            <p:cNvGrpSpPr/>
            <p:nvPr/>
          </p:nvGrpSpPr>
          <p:grpSpPr>
            <a:xfrm>
              <a:off x="0" y="228600"/>
              <a:ext cx="4762500" cy="571500"/>
              <a:chOff x="0" y="0"/>
              <a:chExt cx="4762500" cy="571500"/>
            </a:xfrm>
          </p:grpSpPr>
          <p:sp>
            <p:nvSpPr>
              <p:cNvPr id="226" name="Google Shape;226;p21"/>
              <p:cNvSpPr/>
              <p:nvPr/>
            </p:nvSpPr>
            <p:spPr>
              <a:xfrm>
                <a:off x="0" y="0"/>
                <a:ext cx="4762500" cy="571500"/>
              </a:xfrm>
              <a:prstGeom prst="roundRect">
                <a:avLst>
                  <a:gd fmla="val 3333" name="adj"/>
                </a:avLst>
              </a:prstGeom>
              <a:solidFill>
                <a:srgbClr val="F4F6F9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21"/>
              <p:cNvSpPr/>
              <p:nvPr/>
            </p:nvSpPr>
            <p:spPr>
              <a:xfrm>
                <a:off x="0" y="0"/>
                <a:ext cx="38100" cy="571500"/>
              </a:xfrm>
              <a:prstGeom prst="rect">
                <a:avLst/>
              </a:prstGeom>
              <a:solidFill>
                <a:srgbClr val="D32F2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21"/>
              <p:cNvSpPr txBox="1"/>
              <p:nvPr/>
            </p:nvSpPr>
            <p:spPr>
              <a:xfrm>
                <a:off x="152400" y="95250"/>
                <a:ext cx="44577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0A0A0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Valve force</a:t>
                </a:r>
                <a:endParaRPr b="0" sz="1100">
                  <a:solidFill>
                    <a:srgbClr val="0A0A0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666666"/>
                    </a:solidFill>
                    <a:latin typeface="Inter"/>
                    <a:ea typeface="Inter"/>
                    <a:cs typeface="Inter"/>
                    <a:sym typeface="Inter"/>
                  </a:rPr>
                  <a:t>Category: </a:t>
                </a:r>
                <a:r>
                  <a:rPr b="1" lang="en" sz="1000">
                    <a:solidFill>
                      <a:srgbClr val="666666"/>
                    </a:solidFill>
                    <a:latin typeface="Inter"/>
                    <a:ea typeface="Inter"/>
                    <a:cs typeface="Inter"/>
                    <a:sym typeface="Inter"/>
                  </a:rPr>
                  <a:t>Tampering</a:t>
                </a:r>
                <a:r>
                  <a:rPr b="0" lang="en" sz="1000">
                    <a:solidFill>
                      <a:srgbClr val="666666"/>
                    </a:solidFill>
                    <a:latin typeface="Inter"/>
                    <a:ea typeface="Inter"/>
                    <a:cs typeface="Inter"/>
                    <a:sym typeface="Inter"/>
                  </a:rPr>
                  <a:t>  |  Target: </a:t>
                </a:r>
                <a:r>
                  <a:rPr b="1" lang="en" sz="1000">
                    <a:solidFill>
                      <a:srgbClr val="666666"/>
                    </a:solidFill>
                    <a:latin typeface="Inter"/>
                    <a:ea typeface="Inter"/>
                    <a:cs typeface="Inter"/>
                    <a:sym typeface="Inter"/>
                  </a:rPr>
                  <a:t>FC05</a:t>
                </a:r>
                <a:endParaRPr b="0" sz="100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29" name="Google Shape;229;p21"/>
            <p:cNvGrpSpPr/>
            <p:nvPr/>
          </p:nvGrpSpPr>
          <p:grpSpPr>
            <a:xfrm>
              <a:off x="0" y="876300"/>
              <a:ext cx="4762500" cy="571500"/>
              <a:chOff x="0" y="0"/>
              <a:chExt cx="4762500" cy="571500"/>
            </a:xfrm>
          </p:grpSpPr>
          <p:sp>
            <p:nvSpPr>
              <p:cNvPr id="230" name="Google Shape;230;p21"/>
              <p:cNvSpPr/>
              <p:nvPr/>
            </p:nvSpPr>
            <p:spPr>
              <a:xfrm>
                <a:off x="0" y="0"/>
                <a:ext cx="4762500" cy="571500"/>
              </a:xfrm>
              <a:prstGeom prst="roundRect">
                <a:avLst>
                  <a:gd fmla="val 3333" name="adj"/>
                </a:avLst>
              </a:prstGeom>
              <a:solidFill>
                <a:srgbClr val="F4F6F9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21"/>
              <p:cNvSpPr/>
              <p:nvPr/>
            </p:nvSpPr>
            <p:spPr>
              <a:xfrm>
                <a:off x="0" y="0"/>
                <a:ext cx="38100" cy="571500"/>
              </a:xfrm>
              <a:prstGeom prst="rect">
                <a:avLst/>
              </a:prstGeom>
              <a:solidFill>
                <a:srgbClr val="D32F2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21"/>
              <p:cNvSpPr txBox="1"/>
              <p:nvPr/>
            </p:nvSpPr>
            <p:spPr>
              <a:xfrm>
                <a:off x="152400" y="95250"/>
                <a:ext cx="44577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0A0A0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Sensor spoof</a:t>
                </a:r>
                <a:endParaRPr b="0" sz="1100">
                  <a:solidFill>
                    <a:srgbClr val="0A0A0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666666"/>
                    </a:solidFill>
                    <a:latin typeface="Inter"/>
                    <a:ea typeface="Inter"/>
                    <a:cs typeface="Inter"/>
                    <a:sym typeface="Inter"/>
                  </a:rPr>
                  <a:t>Category: </a:t>
                </a:r>
                <a:r>
                  <a:rPr b="1" lang="en" sz="1000">
                    <a:solidFill>
                      <a:srgbClr val="666666"/>
                    </a:solidFill>
                    <a:latin typeface="Inter"/>
                    <a:ea typeface="Inter"/>
                    <a:cs typeface="Inter"/>
                    <a:sym typeface="Inter"/>
                  </a:rPr>
                  <a:t>Tampering</a:t>
                </a:r>
                <a:r>
                  <a:rPr b="0" lang="en" sz="1000">
                    <a:solidFill>
                      <a:srgbClr val="666666"/>
                    </a:solidFill>
                    <a:latin typeface="Inter"/>
                    <a:ea typeface="Inter"/>
                    <a:cs typeface="Inter"/>
                    <a:sym typeface="Inter"/>
                  </a:rPr>
                  <a:t>  |  Target: </a:t>
                </a:r>
                <a:r>
                  <a:rPr b="1" lang="en" sz="1000">
                    <a:solidFill>
                      <a:srgbClr val="666666"/>
                    </a:solidFill>
                    <a:latin typeface="Inter"/>
                    <a:ea typeface="Inter"/>
                    <a:cs typeface="Inter"/>
                    <a:sym typeface="Inter"/>
                  </a:rPr>
                  <a:t>FC10</a:t>
                </a:r>
                <a:endParaRPr b="0" sz="100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33" name="Google Shape;233;p21"/>
            <p:cNvGrpSpPr/>
            <p:nvPr/>
          </p:nvGrpSpPr>
          <p:grpSpPr>
            <a:xfrm>
              <a:off x="0" y="1524000"/>
              <a:ext cx="4762500" cy="571500"/>
              <a:chOff x="0" y="0"/>
              <a:chExt cx="4762500" cy="571500"/>
            </a:xfrm>
          </p:grpSpPr>
          <p:sp>
            <p:nvSpPr>
              <p:cNvPr id="234" name="Google Shape;234;p21"/>
              <p:cNvSpPr/>
              <p:nvPr/>
            </p:nvSpPr>
            <p:spPr>
              <a:xfrm>
                <a:off x="0" y="0"/>
                <a:ext cx="4762500" cy="571500"/>
              </a:xfrm>
              <a:prstGeom prst="roundRect">
                <a:avLst>
                  <a:gd fmla="val 3333" name="adj"/>
                </a:avLst>
              </a:prstGeom>
              <a:solidFill>
                <a:srgbClr val="F4F6F9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21"/>
              <p:cNvSpPr/>
              <p:nvPr/>
            </p:nvSpPr>
            <p:spPr>
              <a:xfrm>
                <a:off x="0" y="0"/>
                <a:ext cx="38100" cy="571500"/>
              </a:xfrm>
              <a:prstGeom prst="rect">
                <a:avLst/>
              </a:prstGeom>
              <a:solidFill>
                <a:srgbClr val="D32F2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21"/>
              <p:cNvSpPr txBox="1"/>
              <p:nvPr/>
            </p:nvSpPr>
            <p:spPr>
              <a:xfrm>
                <a:off x="152400" y="95250"/>
                <a:ext cx="44577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0A0A0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Supply drain</a:t>
                </a:r>
                <a:endParaRPr b="0" sz="1100">
                  <a:solidFill>
                    <a:srgbClr val="0A0A0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666666"/>
                    </a:solidFill>
                    <a:latin typeface="Inter"/>
                    <a:ea typeface="Inter"/>
                    <a:cs typeface="Inter"/>
                    <a:sym typeface="Inter"/>
                  </a:rPr>
                  <a:t>Category: </a:t>
                </a:r>
                <a:r>
                  <a:rPr b="1" lang="en" sz="1000">
                    <a:solidFill>
                      <a:srgbClr val="666666"/>
                    </a:solidFill>
                    <a:latin typeface="Inter"/>
                    <a:ea typeface="Inter"/>
                    <a:cs typeface="Inter"/>
                    <a:sym typeface="Inter"/>
                  </a:rPr>
                  <a:t>DoS</a:t>
                </a:r>
                <a:r>
                  <a:rPr b="0" lang="en" sz="1000">
                    <a:solidFill>
                      <a:srgbClr val="666666"/>
                    </a:solidFill>
                    <a:latin typeface="Inter"/>
                    <a:ea typeface="Inter"/>
                    <a:cs typeface="Inter"/>
                    <a:sym typeface="Inter"/>
                  </a:rPr>
                  <a:t>  |  Target: </a:t>
                </a:r>
                <a:r>
                  <a:rPr b="1" lang="en" sz="1000">
                    <a:solidFill>
                      <a:srgbClr val="666666"/>
                    </a:solidFill>
                    <a:latin typeface="Inter"/>
                    <a:ea typeface="Inter"/>
                    <a:cs typeface="Inter"/>
                    <a:sym typeface="Inter"/>
                  </a:rPr>
                  <a:t>FC06</a:t>
                </a:r>
                <a:endParaRPr b="0" sz="100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37" name="Google Shape;237;p21"/>
            <p:cNvGrpSpPr/>
            <p:nvPr/>
          </p:nvGrpSpPr>
          <p:grpSpPr>
            <a:xfrm>
              <a:off x="0" y="2171700"/>
              <a:ext cx="4762500" cy="571500"/>
              <a:chOff x="0" y="0"/>
              <a:chExt cx="4762500" cy="571500"/>
            </a:xfrm>
          </p:grpSpPr>
          <p:sp>
            <p:nvSpPr>
              <p:cNvPr id="238" name="Google Shape;238;p21"/>
              <p:cNvSpPr/>
              <p:nvPr/>
            </p:nvSpPr>
            <p:spPr>
              <a:xfrm>
                <a:off x="0" y="0"/>
                <a:ext cx="4762500" cy="571500"/>
              </a:xfrm>
              <a:prstGeom prst="roundRect">
                <a:avLst>
                  <a:gd fmla="val 3333" name="adj"/>
                </a:avLst>
              </a:prstGeom>
              <a:solidFill>
                <a:srgbClr val="F4F6F9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21"/>
              <p:cNvSpPr/>
              <p:nvPr/>
            </p:nvSpPr>
            <p:spPr>
              <a:xfrm>
                <a:off x="0" y="0"/>
                <a:ext cx="38100" cy="571500"/>
              </a:xfrm>
              <a:prstGeom prst="rect">
                <a:avLst/>
              </a:prstGeom>
              <a:solidFill>
                <a:srgbClr val="D32F2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21"/>
              <p:cNvSpPr txBox="1"/>
              <p:nvPr/>
            </p:nvSpPr>
            <p:spPr>
              <a:xfrm>
                <a:off x="152400" y="95250"/>
                <a:ext cx="44577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0A0A0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Multi-vector</a:t>
                </a:r>
                <a:endParaRPr b="0" sz="1100">
                  <a:solidFill>
                    <a:srgbClr val="0A0A0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666666"/>
                    </a:solidFill>
                    <a:latin typeface="Inter"/>
                    <a:ea typeface="Inter"/>
                    <a:cs typeface="Inter"/>
                    <a:sym typeface="Inter"/>
                  </a:rPr>
                  <a:t>Category: </a:t>
                </a:r>
                <a:r>
                  <a:rPr b="1" lang="en" sz="1000">
                    <a:solidFill>
                      <a:srgbClr val="666666"/>
                    </a:solidFill>
                    <a:latin typeface="Inter"/>
                    <a:ea typeface="Inter"/>
                    <a:cs typeface="Inter"/>
                    <a:sym typeface="Inter"/>
                  </a:rPr>
                  <a:t>Tampering + DoS</a:t>
                </a:r>
                <a:r>
                  <a:rPr b="0" lang="en" sz="1000">
                    <a:solidFill>
                      <a:srgbClr val="666666"/>
                    </a:solidFill>
                    <a:latin typeface="Inter"/>
                    <a:ea typeface="Inter"/>
                    <a:cs typeface="Inter"/>
                    <a:sym typeface="Inter"/>
                  </a:rPr>
                  <a:t>  |  Target: </a:t>
                </a:r>
                <a:r>
                  <a:rPr b="1" lang="en" sz="1000">
                    <a:solidFill>
                      <a:srgbClr val="666666"/>
                    </a:solidFill>
                    <a:latin typeface="Inter"/>
                    <a:ea typeface="Inter"/>
                    <a:cs typeface="Inter"/>
                    <a:sym typeface="Inter"/>
                  </a:rPr>
                  <a:t>Multiple FCs</a:t>
                </a:r>
                <a:endParaRPr b="0" sz="100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41" name="Google Shape;241;p21"/>
            <p:cNvGrpSpPr/>
            <p:nvPr/>
          </p:nvGrpSpPr>
          <p:grpSpPr>
            <a:xfrm>
              <a:off x="0" y="2819400"/>
              <a:ext cx="4762500" cy="571500"/>
              <a:chOff x="0" y="0"/>
              <a:chExt cx="4762500" cy="571500"/>
            </a:xfrm>
          </p:grpSpPr>
          <p:sp>
            <p:nvSpPr>
              <p:cNvPr id="242" name="Google Shape;242;p21"/>
              <p:cNvSpPr/>
              <p:nvPr/>
            </p:nvSpPr>
            <p:spPr>
              <a:xfrm>
                <a:off x="0" y="0"/>
                <a:ext cx="4762500" cy="571500"/>
              </a:xfrm>
              <a:prstGeom prst="roundRect">
                <a:avLst>
                  <a:gd fmla="val 3333" name="adj"/>
                </a:avLst>
              </a:prstGeom>
              <a:solidFill>
                <a:srgbClr val="F4F6F9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21"/>
              <p:cNvSpPr/>
              <p:nvPr/>
            </p:nvSpPr>
            <p:spPr>
              <a:xfrm>
                <a:off x="0" y="0"/>
                <a:ext cx="38100" cy="571500"/>
              </a:xfrm>
              <a:prstGeom prst="rect">
                <a:avLst/>
              </a:prstGeom>
              <a:solidFill>
                <a:srgbClr val="D32F2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21"/>
              <p:cNvSpPr txBox="1"/>
              <p:nvPr/>
            </p:nvSpPr>
            <p:spPr>
              <a:xfrm>
                <a:off x="152400" y="95250"/>
                <a:ext cx="44577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0A0A0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Replay</a:t>
                </a:r>
                <a:endParaRPr b="0" sz="1100">
                  <a:solidFill>
                    <a:srgbClr val="0A0A0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666666"/>
                    </a:solidFill>
                    <a:latin typeface="Inter"/>
                    <a:ea typeface="Inter"/>
                    <a:cs typeface="Inter"/>
                    <a:sym typeface="Inter"/>
                  </a:rPr>
                  <a:t>Category: </a:t>
                </a:r>
                <a:r>
                  <a:rPr b="1" lang="en" sz="1000">
                    <a:solidFill>
                      <a:srgbClr val="666666"/>
                    </a:solidFill>
                    <a:latin typeface="Inter"/>
                    <a:ea typeface="Inter"/>
                    <a:cs typeface="Inter"/>
                    <a:sym typeface="Inter"/>
                  </a:rPr>
                  <a:t>Repudiation</a:t>
                </a:r>
                <a:r>
                  <a:rPr b="0" lang="en" sz="1000">
                    <a:solidFill>
                      <a:srgbClr val="666666"/>
                    </a:solidFill>
                    <a:latin typeface="Inter"/>
                    <a:ea typeface="Inter"/>
                    <a:cs typeface="Inter"/>
                    <a:sym typeface="Inter"/>
                  </a:rPr>
                  <a:t>  |  Target: </a:t>
                </a:r>
                <a:r>
                  <a:rPr b="1" lang="en" sz="1000">
                    <a:solidFill>
                      <a:srgbClr val="666666"/>
                    </a:solidFill>
                    <a:latin typeface="Inter"/>
                    <a:ea typeface="Inter"/>
                    <a:cs typeface="Inter"/>
                    <a:sym typeface="Inter"/>
                  </a:rPr>
                  <a:t>Any FC</a:t>
                </a:r>
                <a:endParaRPr b="0" sz="100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p22"/>
          <p:cNvGrpSpPr/>
          <p:nvPr/>
        </p:nvGrpSpPr>
        <p:grpSpPr>
          <a:xfrm>
            <a:off x="457200" y="457200"/>
            <a:ext cx="8229600" cy="4229250"/>
            <a:chOff x="457200" y="457200"/>
            <a:chExt cx="8229600" cy="4229250"/>
          </a:xfrm>
        </p:grpSpPr>
        <p:sp>
          <p:nvSpPr>
            <p:cNvPr id="250" name="Google Shape;250;p22"/>
            <p:cNvSpPr/>
            <p:nvPr/>
          </p:nvSpPr>
          <p:spPr>
            <a:xfrm>
              <a:off x="457200" y="457200"/>
              <a:ext cx="457200" cy="573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51" name="Google Shape;251;p22"/>
            <p:cNvCxnSpPr/>
            <p:nvPr/>
          </p:nvCxnSpPr>
          <p:spPr>
            <a:xfrm>
              <a:off x="457200" y="104775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2" name="Google Shape;252;p22"/>
            <p:cNvCxnSpPr/>
            <p:nvPr/>
          </p:nvCxnSpPr>
          <p:spPr>
            <a:xfrm>
              <a:off x="4572000" y="1276350"/>
              <a:ext cx="0" cy="341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53" name="Google Shape;253;p22"/>
          <p:cNvSpPr txBox="1"/>
          <p:nvPr/>
        </p:nvSpPr>
        <p:spPr>
          <a:xfrm>
            <a:off x="457200" y="590550"/>
            <a:ext cx="82296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Unprotected Modbus TCP configurations are entirely susceptible to unauthorized command injection.</a:t>
            </a:r>
            <a:endParaRPr b="1" sz="1400">
              <a:solidFill>
                <a:srgbClr val="0A0A0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54" name="Google Shape;254;p22"/>
          <p:cNvGrpSpPr/>
          <p:nvPr/>
        </p:nvGrpSpPr>
        <p:grpSpPr>
          <a:xfrm>
            <a:off x="457200" y="1333500"/>
            <a:ext cx="3886200" cy="1714500"/>
            <a:chOff x="0" y="0"/>
            <a:chExt cx="3886200" cy="1714500"/>
          </a:xfrm>
        </p:grpSpPr>
        <p:sp>
          <p:nvSpPr>
            <p:cNvPr id="255" name="Google Shape;255;p22"/>
            <p:cNvSpPr/>
            <p:nvPr/>
          </p:nvSpPr>
          <p:spPr>
            <a:xfrm>
              <a:off x="0" y="0"/>
              <a:ext cx="38100" cy="1714500"/>
            </a:xfrm>
            <a:prstGeom prst="rect">
              <a:avLst/>
            </a:prstGeom>
            <a:solidFill>
              <a:srgbClr val="D32F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2"/>
            <p:cNvSpPr txBox="1"/>
            <p:nvPr/>
          </p:nvSpPr>
          <p:spPr>
            <a:xfrm>
              <a:off x="190500" y="0"/>
              <a:ext cx="36957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185">
                  <a:solidFill>
                    <a:srgbClr val="D32F2F"/>
                  </a:solidFill>
                  <a:latin typeface="Inter"/>
                  <a:ea typeface="Inter"/>
                  <a:cs typeface="Inter"/>
                  <a:sym typeface="Inter"/>
                </a:rPr>
                <a:t>100%</a:t>
              </a:r>
              <a:endParaRPr b="1" sz="4185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450"/>
                </a:spcAft>
                <a:buNone/>
              </a:pPr>
              <a:r>
                <a:rPr b="0" lang="en" sz="775">
                  <a:solidFill>
                    <a:srgbClr val="D32F2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Attack Success Rate (Baseline)</a:t>
              </a:r>
              <a:endParaRPr b="0" sz="775">
                <a:solidFill>
                  <a:srgbClr val="D32F2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57" name="Google Shape;257;p22"/>
            <p:cNvSpPr/>
            <p:nvPr/>
          </p:nvSpPr>
          <p:spPr>
            <a:xfrm>
              <a:off x="190500" y="952500"/>
              <a:ext cx="3695700" cy="762000"/>
            </a:xfrm>
            <a:prstGeom prst="roundRect">
              <a:avLst>
                <a:gd fmla="val 0" name="adj"/>
              </a:avLst>
            </a:prstGeom>
            <a:solidFill>
              <a:srgbClr val="F4F6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2"/>
            <p:cNvSpPr txBox="1"/>
            <p:nvPr/>
          </p:nvSpPr>
          <p:spPr>
            <a:xfrm>
              <a:off x="342900" y="1066800"/>
              <a:ext cx="33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66666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Observation Details</a:t>
              </a:r>
              <a:endParaRPr b="0" sz="850">
                <a:solidFill>
                  <a:srgbClr val="66666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900"/>
                </a:spcAft>
                <a:buNone/>
              </a:pPr>
              <a:r>
                <a:rPr b="0" lang="en" sz="935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Captured </a:t>
              </a:r>
              <a:r>
                <a:rPr b="0" lang="en" sz="935">
                  <a:solidFill>
                    <a:srgbClr val="0A0A0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74,896 Modbus/TCP frames</a:t>
              </a:r>
              <a:r>
                <a:rPr b="0" lang="en" sz="935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in cleartext during a 4-hour observation window with zero protection.</a:t>
              </a:r>
              <a:endParaRPr b="0" sz="935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9" name="Google Shape;259;p22"/>
          <p:cNvGrpSpPr/>
          <p:nvPr/>
        </p:nvGrpSpPr>
        <p:grpSpPr>
          <a:xfrm>
            <a:off x="457200" y="3238500"/>
            <a:ext cx="3886200" cy="1333500"/>
            <a:chOff x="0" y="0"/>
            <a:chExt cx="3886200" cy="1333500"/>
          </a:xfrm>
        </p:grpSpPr>
        <p:sp>
          <p:nvSpPr>
            <p:cNvPr id="260" name="Google Shape;260;p22"/>
            <p:cNvSpPr/>
            <p:nvPr/>
          </p:nvSpPr>
          <p:spPr>
            <a:xfrm>
              <a:off x="0" y="0"/>
              <a:ext cx="3886200" cy="1333500"/>
            </a:xfrm>
            <a:prstGeom prst="rect">
              <a:avLst/>
            </a:prstGeom>
            <a:solidFill>
              <a:srgbClr val="FEE2E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1" name="Google Shape;261;p22"/>
            <p:cNvGrpSpPr/>
            <p:nvPr/>
          </p:nvGrpSpPr>
          <p:grpSpPr>
            <a:xfrm>
              <a:off x="190500" y="190500"/>
              <a:ext cx="182880" cy="182880"/>
              <a:chOff x="0" y="0"/>
              <a:chExt cx="228600" cy="228600"/>
            </a:xfrm>
          </p:grpSpPr>
          <p:sp>
            <p:nvSpPr>
              <p:cNvPr id="262" name="Google Shape;262;p22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FEE2E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22"/>
              <p:cNvSpPr/>
              <p:nvPr/>
            </p:nvSpPr>
            <p:spPr>
              <a:xfrm>
                <a:off x="114300" y="66675"/>
                <a:ext cx="0" cy="95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72000"/>
                    </a:lnTo>
                    <a:moveTo>
                      <a:pt x="0" y="120000"/>
                    </a:move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D32F2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64" name="Google Shape;264;p22"/>
            <p:cNvSpPr txBox="1"/>
            <p:nvPr/>
          </p:nvSpPr>
          <p:spPr>
            <a:xfrm>
              <a:off x="495300" y="171450"/>
              <a:ext cx="3200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D32F2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Vulnerability Summary</a:t>
              </a:r>
              <a:endParaRPr b="0" sz="1100">
                <a:solidFill>
                  <a:srgbClr val="D32F2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900"/>
                </a:spcAft>
                <a:buNone/>
              </a:pPr>
              <a:r>
                <a:rPr b="0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In the baseline unprotected configuration, all Application Data Units (ADUs) are transmitted in cleartext, rendering the system entirely open to malicious exploitation.</a:t>
              </a:r>
              <a:endParaRPr b="0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65" name="Google Shape;265;p22"/>
          <p:cNvGrpSpPr/>
          <p:nvPr/>
        </p:nvGrpSpPr>
        <p:grpSpPr>
          <a:xfrm>
            <a:off x="4876800" y="1333500"/>
            <a:ext cx="3810000" cy="3352800"/>
            <a:chOff x="0" y="0"/>
            <a:chExt cx="3810000" cy="3352800"/>
          </a:xfrm>
        </p:grpSpPr>
        <p:sp>
          <p:nvSpPr>
            <p:cNvPr id="266" name="Google Shape;266;p22"/>
            <p:cNvSpPr txBox="1"/>
            <p:nvPr/>
          </p:nvSpPr>
          <p:spPr>
            <a:xfrm>
              <a:off x="0" y="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0" lang="en" sz="1000">
                  <a:solidFill>
                    <a:srgbClr val="66666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Executed Threat Vectors (5/5 Successful)</a:t>
              </a:r>
              <a:endParaRPr b="0" sz="1000">
                <a:solidFill>
                  <a:srgbClr val="66666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67" name="Google Shape;267;p22"/>
            <p:cNvSpPr txBox="1"/>
            <p:nvPr/>
          </p:nvSpPr>
          <p:spPr>
            <a:xfrm>
              <a:off x="0" y="304800"/>
              <a:ext cx="3810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A0A0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1. Forced Coil Outputs</a:t>
              </a:r>
              <a:endParaRPr b="0" sz="1100">
                <a:solidFill>
                  <a:srgbClr val="0A0A0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Attackers successfully issued unauthorized commands to force digital coil state outputs across the network.</a:t>
              </a:r>
              <a:endParaRPr b="0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A0A0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2. Overwrote Holding Registers</a:t>
              </a:r>
              <a:endParaRPr b="0" sz="1100">
                <a:solidFill>
                  <a:srgbClr val="0A0A0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Overwrote critical holding registers with fabricated telemetry, compromising system visibility and operational accuracy.</a:t>
              </a:r>
              <a:endParaRPr b="0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A0A0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3. Halted Valve Actuation</a:t>
              </a:r>
              <a:endParaRPr b="0" sz="1100">
                <a:solidFill>
                  <a:srgbClr val="0A0A0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Successfully drained the supply register, causing physical disruption by halting active valve actuation.</a:t>
              </a:r>
              <a:endParaRPr b="0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A0A0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4. Replayed Raw Commands</a:t>
              </a:r>
              <a:endParaRPr b="0" sz="1100">
                <a:solidFill>
                  <a:srgbClr val="0A0A0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900"/>
                </a:spcAft>
                <a:buNone/>
              </a:pPr>
              <a:r>
                <a:rPr b="0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Executed unauthenticated replayed raw Modbus TCP commands without triggering protocol-level rejections.</a:t>
              </a:r>
              <a:endParaRPr b="0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2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73" name="Google Shape;273;p23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3"/>
            <p:cNvSpPr/>
            <p:nvPr/>
          </p:nvSpPr>
          <p:spPr>
            <a:xfrm>
              <a:off x="457200" y="457200"/>
              <a:ext cx="457200" cy="57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5" name="Google Shape;275;p23"/>
          <p:cNvSpPr txBox="1"/>
          <p:nvPr/>
        </p:nvSpPr>
        <p:spPr>
          <a:xfrm>
            <a:off x="457200" y="68580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7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ZTA-enabled configuration successfully blocked 100% of all tested attack classes.</a:t>
            </a:r>
            <a:endParaRPr b="1" sz="187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76" name="Google Shape;276;p23"/>
          <p:cNvGrpSpPr/>
          <p:nvPr/>
        </p:nvGrpSpPr>
        <p:grpSpPr>
          <a:xfrm>
            <a:off x="457200" y="1524000"/>
            <a:ext cx="3086100" cy="1143000"/>
            <a:chOff x="0" y="0"/>
            <a:chExt cx="3086100" cy="1143000"/>
          </a:xfrm>
        </p:grpSpPr>
        <p:sp>
          <p:nvSpPr>
            <p:cNvPr id="277" name="Google Shape;277;p23"/>
            <p:cNvSpPr/>
            <p:nvPr/>
          </p:nvSpPr>
          <p:spPr>
            <a:xfrm>
              <a:off x="0" y="0"/>
              <a:ext cx="38100" cy="1143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3"/>
            <p:cNvSpPr txBox="1"/>
            <p:nvPr/>
          </p:nvSpPr>
          <p:spPr>
            <a:xfrm>
              <a:off x="228600" y="0"/>
              <a:ext cx="2857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08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100%</a:t>
              </a:r>
              <a:endParaRPr b="1" sz="408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BLOCK RATE ACROSS ALL THREATS</a:t>
              </a:r>
              <a:endParaRPr b="0" sz="850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600"/>
                </a:spcAft>
                <a:buNone/>
              </a:pPr>
              <a:r>
                <a:rPr b="0" lang="en" sz="808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Comprehensive protection against all STRIDE attack categories</a:t>
              </a:r>
              <a:endParaRPr b="0" sz="808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9" name="Google Shape;279;p23"/>
          <p:cNvGrpSpPr/>
          <p:nvPr/>
        </p:nvGrpSpPr>
        <p:grpSpPr>
          <a:xfrm>
            <a:off x="3771900" y="1524000"/>
            <a:ext cx="2286000" cy="1428900"/>
            <a:chOff x="0" y="0"/>
            <a:chExt cx="2286000" cy="1428900"/>
          </a:xfrm>
        </p:grpSpPr>
        <p:sp>
          <p:nvSpPr>
            <p:cNvPr id="280" name="Google Shape;280;p23"/>
            <p:cNvSpPr/>
            <p:nvPr/>
          </p:nvSpPr>
          <p:spPr>
            <a:xfrm>
              <a:off x="0" y="0"/>
              <a:ext cx="2286000" cy="1428900"/>
            </a:xfrm>
            <a:prstGeom prst="rect">
              <a:avLst/>
            </a:prstGeom>
            <a:solidFill>
              <a:srgbClr val="FFFFFF">
                <a:alpha val="8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3"/>
            <p:cNvSpPr txBox="1"/>
            <p:nvPr/>
          </p:nvSpPr>
          <p:spPr>
            <a:xfrm>
              <a:off x="152400" y="152400"/>
              <a:ext cx="1981200" cy="11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TLS HANDSHAKE LAYER</a:t>
              </a:r>
              <a:endParaRPr b="0" sz="1000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Unauthenticated Access</a:t>
              </a:r>
              <a:endParaRPr b="0" sz="11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4F6F9"/>
                  </a:solidFill>
                  <a:latin typeface="Inter"/>
                  <a:ea typeface="Inter"/>
                  <a:cs typeface="Inter"/>
                  <a:sym typeface="Inter"/>
                </a:rPr>
                <a:t>Unauthenticated connections were rejected at the TLS handshake layer before reaching the PLC.</a:t>
              </a:r>
              <a:endParaRPr b="0" sz="1000">
                <a:solidFill>
                  <a:srgbClr val="F4F6F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82" name="Google Shape;282;p23"/>
          <p:cNvGrpSpPr/>
          <p:nvPr/>
        </p:nvGrpSpPr>
        <p:grpSpPr>
          <a:xfrm>
            <a:off x="6286500" y="1524000"/>
            <a:ext cx="2400300" cy="1428900"/>
            <a:chOff x="0" y="0"/>
            <a:chExt cx="2400300" cy="1428900"/>
          </a:xfrm>
        </p:grpSpPr>
        <p:sp>
          <p:nvSpPr>
            <p:cNvPr id="283" name="Google Shape;283;p23"/>
            <p:cNvSpPr/>
            <p:nvPr/>
          </p:nvSpPr>
          <p:spPr>
            <a:xfrm>
              <a:off x="0" y="0"/>
              <a:ext cx="2400300" cy="1428900"/>
            </a:xfrm>
            <a:prstGeom prst="rect">
              <a:avLst/>
            </a:prstGeom>
            <a:solidFill>
              <a:srgbClr val="FFFFFF">
                <a:alpha val="8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3"/>
            <p:cNvSpPr txBox="1"/>
            <p:nvPr/>
          </p:nvSpPr>
          <p:spPr>
            <a:xfrm>
              <a:off x="152400" y="152400"/>
              <a:ext cx="2095500" cy="11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POLICY ENGINE</a:t>
              </a:r>
              <a:endParaRPr b="0" sz="1000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Stolen Certificates</a:t>
              </a:r>
              <a:endParaRPr b="0" sz="11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4F6F9"/>
                  </a:solidFill>
                  <a:latin typeface="Inter"/>
                  <a:ea typeface="Inter"/>
                  <a:cs typeface="Inter"/>
                  <a:sym typeface="Inter"/>
                </a:rPr>
                <a:t>Attacks using valid stolen certificates were blocked by the policy engine.</a:t>
              </a:r>
              <a:endParaRPr b="0" sz="1000">
                <a:solidFill>
                  <a:srgbClr val="F4F6F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85" name="Google Shape;285;p23"/>
          <p:cNvGrpSpPr/>
          <p:nvPr/>
        </p:nvGrpSpPr>
        <p:grpSpPr>
          <a:xfrm>
            <a:off x="3771900" y="3143250"/>
            <a:ext cx="2286000" cy="1428900"/>
            <a:chOff x="0" y="0"/>
            <a:chExt cx="2286000" cy="1428900"/>
          </a:xfrm>
        </p:grpSpPr>
        <p:sp>
          <p:nvSpPr>
            <p:cNvPr id="286" name="Google Shape;286;p23"/>
            <p:cNvSpPr/>
            <p:nvPr/>
          </p:nvSpPr>
          <p:spPr>
            <a:xfrm>
              <a:off x="0" y="0"/>
              <a:ext cx="2286000" cy="1428900"/>
            </a:xfrm>
            <a:prstGeom prst="rect">
              <a:avLst/>
            </a:prstGeom>
            <a:solidFill>
              <a:srgbClr val="FFFFFF">
                <a:alpha val="8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3"/>
            <p:cNvSpPr txBox="1"/>
            <p:nvPr/>
          </p:nvSpPr>
          <p:spPr>
            <a:xfrm>
              <a:off x="152400" y="152400"/>
              <a:ext cx="1981200" cy="11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EPHEMERAL SESSION KEYS</a:t>
              </a:r>
              <a:endParaRPr b="0" sz="1000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Replay Attacks</a:t>
              </a:r>
              <a:endParaRPr b="0" sz="11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4F6F9"/>
                  </a:solidFill>
                  <a:latin typeface="Inter"/>
                  <a:ea typeface="Inter"/>
                  <a:cs typeface="Inter"/>
                  <a:sym typeface="Inter"/>
                </a:rPr>
                <a:t>Replay attacks failed because TLS session keys are ephemeral, preventing injection of captured ciphertext.</a:t>
              </a:r>
              <a:endParaRPr b="0" sz="1000">
                <a:solidFill>
                  <a:srgbClr val="F4F6F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88" name="Google Shape;288;p23"/>
          <p:cNvGrpSpPr/>
          <p:nvPr/>
        </p:nvGrpSpPr>
        <p:grpSpPr>
          <a:xfrm>
            <a:off x="6286500" y="3143250"/>
            <a:ext cx="2400300" cy="1428900"/>
            <a:chOff x="0" y="0"/>
            <a:chExt cx="2400300" cy="1428900"/>
          </a:xfrm>
        </p:grpSpPr>
        <p:sp>
          <p:nvSpPr>
            <p:cNvPr id="289" name="Google Shape;289;p23"/>
            <p:cNvSpPr/>
            <p:nvPr/>
          </p:nvSpPr>
          <p:spPr>
            <a:xfrm>
              <a:off x="0" y="0"/>
              <a:ext cx="2400300" cy="1428900"/>
            </a:xfrm>
            <a:prstGeom prst="rect">
              <a:avLst/>
            </a:prstGeom>
            <a:solidFill>
              <a:srgbClr val="FFFFFF">
                <a:alpha val="8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3"/>
            <p:cNvSpPr txBox="1"/>
            <p:nvPr/>
          </p:nvSpPr>
          <p:spPr>
            <a:xfrm>
              <a:off x="152400" y="152400"/>
              <a:ext cx="2095500" cy="11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NETWORK CAPTURE</a:t>
              </a:r>
              <a:endParaRPr b="0" sz="1000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Encrypted Protocols</a:t>
              </a:r>
              <a:endParaRPr b="0" sz="11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4F6F9"/>
                  </a:solidFill>
                  <a:latin typeface="Inter"/>
                  <a:ea typeface="Inter"/>
                  <a:cs typeface="Inter"/>
                  <a:sym typeface="Inter"/>
                </a:rPr>
                <a:t>Network captures confirmed traffic appeared exclusively as encrypted TLS Application Data records.</a:t>
              </a:r>
              <a:endParaRPr b="0" sz="1000">
                <a:solidFill>
                  <a:srgbClr val="F4F6F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91" name="Google Shape;291;p23"/>
          <p:cNvGrpSpPr/>
          <p:nvPr/>
        </p:nvGrpSpPr>
        <p:grpSpPr>
          <a:xfrm>
            <a:off x="457200" y="3143250"/>
            <a:ext cx="3086100" cy="1428900"/>
            <a:chOff x="0" y="0"/>
            <a:chExt cx="3086100" cy="1428900"/>
          </a:xfrm>
        </p:grpSpPr>
        <p:sp>
          <p:nvSpPr>
            <p:cNvPr id="292" name="Google Shape;292;p23"/>
            <p:cNvSpPr/>
            <p:nvPr/>
          </p:nvSpPr>
          <p:spPr>
            <a:xfrm>
              <a:off x="0" y="0"/>
              <a:ext cx="3086100" cy="1428900"/>
            </a:xfrm>
            <a:prstGeom prst="rect">
              <a:avLst/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3"/>
            <p:cNvSpPr txBox="1"/>
            <p:nvPr/>
          </p:nvSpPr>
          <p:spPr>
            <a:xfrm>
              <a:off x="190500" y="190500"/>
              <a:ext cx="27051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SUMMARY EVALUATION</a:t>
              </a:r>
              <a:endParaRPr b="0" sz="1000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The ZTA proxy achieved a 100% block rate across all threats, demonstrating robust multi-layered perimeter defense and cryptographic verification for industrial control systems.</a:t>
              </a:r>
              <a:endParaRPr b="0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" name="Google Shape;298;p2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99" name="Google Shape;299;p2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4"/>
            <p:cNvSpPr/>
            <p:nvPr/>
          </p:nvSpPr>
          <p:spPr>
            <a:xfrm>
              <a:off x="457200" y="381000"/>
              <a:ext cx="457200" cy="573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01" name="Google Shape;301;p24"/>
            <p:cNvCxnSpPr/>
            <p:nvPr/>
          </p:nvCxnSpPr>
          <p:spPr>
            <a:xfrm>
              <a:off x="457200" y="11430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02" name="Google Shape;302;p24"/>
          <p:cNvSpPr txBox="1"/>
          <p:nvPr/>
        </p:nvSpPr>
        <p:spPr>
          <a:xfrm>
            <a:off x="457200" y="51435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0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The ZTA proxy introduces negligible latency overhead while maintaining high system availability.</a:t>
            </a:r>
            <a:endParaRPr b="1" sz="1850">
              <a:solidFill>
                <a:srgbClr val="0A0A0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03" name="Google Shape;303;p24"/>
          <p:cNvGrpSpPr/>
          <p:nvPr/>
        </p:nvGrpSpPr>
        <p:grpSpPr>
          <a:xfrm>
            <a:off x="457200" y="1371600"/>
            <a:ext cx="8229600" cy="809700"/>
            <a:chOff x="0" y="0"/>
            <a:chExt cx="8229600" cy="809700"/>
          </a:xfrm>
        </p:grpSpPr>
        <p:sp>
          <p:nvSpPr>
            <p:cNvPr id="304" name="Google Shape;304;p24"/>
            <p:cNvSpPr/>
            <p:nvPr/>
          </p:nvSpPr>
          <p:spPr>
            <a:xfrm>
              <a:off x="0" y="0"/>
              <a:ext cx="28500" cy="5715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4"/>
            <p:cNvSpPr txBox="1"/>
            <p:nvPr/>
          </p:nvSpPr>
          <p:spPr>
            <a:xfrm>
              <a:off x="152400" y="0"/>
              <a:ext cx="24765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004B87"/>
                  </a:solidFill>
                  <a:latin typeface="Inter"/>
                  <a:ea typeface="Inter"/>
                  <a:cs typeface="Inter"/>
                  <a:sym typeface="Inter"/>
                </a:rPr>
                <a:t>+2.3 ms</a:t>
              </a:r>
              <a:endParaRPr b="1" sz="3200">
                <a:solidFill>
                  <a:srgbClr val="004B8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450"/>
                </a:spcAft>
                <a:buNone/>
              </a:pPr>
              <a:r>
                <a:rPr b="0" lang="en" sz="900">
                  <a:solidFill>
                    <a:srgbClr val="66666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Mean Added Latency</a:t>
              </a:r>
              <a:endParaRPr b="0" sz="900">
                <a:solidFill>
                  <a:srgbClr val="66666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06" name="Google Shape;306;p24"/>
            <p:cNvSpPr/>
            <p:nvPr/>
          </p:nvSpPr>
          <p:spPr>
            <a:xfrm>
              <a:off x="2819400" y="0"/>
              <a:ext cx="28500" cy="5715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4"/>
            <p:cNvSpPr txBox="1"/>
            <p:nvPr/>
          </p:nvSpPr>
          <p:spPr>
            <a:xfrm>
              <a:off x="2971800" y="0"/>
              <a:ext cx="24765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004B87"/>
                  </a:solidFill>
                  <a:latin typeface="Inter"/>
                  <a:ea typeface="Inter"/>
                  <a:cs typeface="Inter"/>
                  <a:sym typeface="Inter"/>
                </a:rPr>
                <a:t>0.46%</a:t>
              </a:r>
              <a:endParaRPr b="1" sz="3200">
                <a:solidFill>
                  <a:srgbClr val="004B8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450"/>
                </a:spcAft>
                <a:buNone/>
              </a:pPr>
              <a:r>
                <a:rPr b="0" lang="en" sz="900">
                  <a:solidFill>
                    <a:srgbClr val="66666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Control Loop Impact</a:t>
              </a:r>
              <a:endParaRPr b="0" sz="900">
                <a:solidFill>
                  <a:srgbClr val="66666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08" name="Google Shape;308;p24"/>
            <p:cNvSpPr/>
            <p:nvPr/>
          </p:nvSpPr>
          <p:spPr>
            <a:xfrm>
              <a:off x="5638800" y="0"/>
              <a:ext cx="28500" cy="5715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4"/>
            <p:cNvSpPr txBox="1"/>
            <p:nvPr/>
          </p:nvSpPr>
          <p:spPr>
            <a:xfrm>
              <a:off x="5791200" y="0"/>
              <a:ext cx="24384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004B87"/>
                  </a:solidFill>
                  <a:latin typeface="Inter"/>
                  <a:ea typeface="Inter"/>
                  <a:cs typeface="Inter"/>
                  <a:sym typeface="Inter"/>
                </a:rPr>
                <a:t>98.6%</a:t>
              </a:r>
              <a:endParaRPr b="1" sz="3200">
                <a:solidFill>
                  <a:srgbClr val="004B8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450"/>
                </a:spcAft>
                <a:buNone/>
              </a:pPr>
              <a:r>
                <a:rPr b="0" lang="en" sz="900">
                  <a:solidFill>
                    <a:srgbClr val="66666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System Availability</a:t>
              </a:r>
              <a:endParaRPr b="0" sz="900">
                <a:solidFill>
                  <a:srgbClr val="66666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cxnSp>
        <p:nvCxnSpPr>
          <p:cNvPr id="310" name="Google Shape;310;p24"/>
          <p:cNvCxnSpPr/>
          <p:nvPr/>
        </p:nvCxnSpPr>
        <p:spPr>
          <a:xfrm>
            <a:off x="457200" y="238125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11" name="Google Shape;311;p24"/>
          <p:cNvGrpSpPr/>
          <p:nvPr/>
        </p:nvGrpSpPr>
        <p:grpSpPr>
          <a:xfrm>
            <a:off x="457200" y="2609850"/>
            <a:ext cx="4000500" cy="2000100"/>
            <a:chOff x="0" y="0"/>
            <a:chExt cx="4000500" cy="2000100"/>
          </a:xfrm>
        </p:grpSpPr>
        <p:sp>
          <p:nvSpPr>
            <p:cNvPr id="312" name="Google Shape;312;p24"/>
            <p:cNvSpPr/>
            <p:nvPr/>
          </p:nvSpPr>
          <p:spPr>
            <a:xfrm>
              <a:off x="0" y="0"/>
              <a:ext cx="4000500" cy="2000100"/>
            </a:xfrm>
            <a:prstGeom prst="roundRect">
              <a:avLst>
                <a:gd fmla="val 0" name="adj"/>
              </a:avLst>
            </a:prstGeom>
            <a:solidFill>
              <a:srgbClr val="F4F6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4"/>
            <p:cNvSpPr txBox="1"/>
            <p:nvPr/>
          </p:nvSpPr>
          <p:spPr>
            <a:xfrm>
              <a:off x="228600" y="228600"/>
              <a:ext cx="3543300" cy="154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6666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Latency Performance</a:t>
              </a:r>
              <a:endParaRPr b="0" sz="900">
                <a:solidFill>
                  <a:srgbClr val="66666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A0A0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Transaction &amp; Scan Overhead</a:t>
              </a:r>
              <a:endParaRPr b="0" sz="1100">
                <a:solidFill>
                  <a:srgbClr val="0A0A0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Mean per-transaction latency increased by only 2.3 ms, rising from a baseline of 1.4 ms to 3.7 ms.</a:t>
              </a:r>
              <a:endParaRPr b="0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b="0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For a control loop executing at a 500 ms scan interval, this overhead represents just 0.46% of the interval, which is operationally negligible.</a:t>
              </a:r>
              <a:endParaRPr b="0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14" name="Google Shape;314;p24"/>
          <p:cNvGrpSpPr/>
          <p:nvPr/>
        </p:nvGrpSpPr>
        <p:grpSpPr>
          <a:xfrm>
            <a:off x="4686300" y="2609850"/>
            <a:ext cx="4000500" cy="2000100"/>
            <a:chOff x="0" y="0"/>
            <a:chExt cx="4000500" cy="2000100"/>
          </a:xfrm>
        </p:grpSpPr>
        <p:sp>
          <p:nvSpPr>
            <p:cNvPr id="315" name="Google Shape;315;p24"/>
            <p:cNvSpPr/>
            <p:nvPr/>
          </p:nvSpPr>
          <p:spPr>
            <a:xfrm>
              <a:off x="0" y="0"/>
              <a:ext cx="4000500" cy="2000100"/>
            </a:xfrm>
            <a:prstGeom prst="roundRect">
              <a:avLst>
                <a:gd fmla="val 0" name="adj"/>
              </a:avLst>
            </a:prstGeom>
            <a:solidFill>
              <a:srgbClr val="F4F6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4"/>
            <p:cNvSpPr txBox="1"/>
            <p:nvPr/>
          </p:nvSpPr>
          <p:spPr>
            <a:xfrm>
              <a:off x="228600" y="228600"/>
              <a:ext cx="3543300" cy="154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6666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Reliability &amp; Uptime</a:t>
              </a:r>
              <a:endParaRPr b="0" sz="900">
                <a:solidFill>
                  <a:srgbClr val="66666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A0A0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Observation Window Metrics</a:t>
              </a:r>
              <a:endParaRPr b="0" sz="1100">
                <a:solidFill>
                  <a:srgbClr val="0A0A0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System availability remained high at 98.6% over a 14,400-cycle observation window.</a:t>
              </a:r>
              <a:endParaRPr b="0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b="0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Crucially, zero timeout events were attributable to ZTA security processing, demonstrating consistent stability under operational workloads.</a:t>
              </a:r>
              <a:endParaRPr b="0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5"/>
          <p:cNvSpPr/>
          <p:nvPr/>
        </p:nvSpPr>
        <p:spPr>
          <a:xfrm>
            <a:off x="457200" y="419100"/>
            <a:ext cx="457200" cy="4770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5"/>
          <p:cNvSpPr txBox="1"/>
          <p:nvPr/>
        </p:nvSpPr>
        <p:spPr>
          <a:xfrm>
            <a:off x="457200" y="552450"/>
            <a:ext cx="8229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The proposed ZTA provides cost-free security, with future work targeting sub-100 ms loops.</a:t>
            </a:r>
            <a:endParaRPr b="1" sz="1550">
              <a:solidFill>
                <a:srgbClr val="0A0A0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23" name="Google Shape;323;p25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24" name="Google Shape;324;p25"/>
          <p:cNvGrpSpPr/>
          <p:nvPr/>
        </p:nvGrpSpPr>
        <p:grpSpPr>
          <a:xfrm>
            <a:off x="457200" y="1314450"/>
            <a:ext cx="3962400" cy="3314700"/>
            <a:chOff x="0" y="0"/>
            <a:chExt cx="3962400" cy="3314700"/>
          </a:xfrm>
        </p:grpSpPr>
        <p:sp>
          <p:nvSpPr>
            <p:cNvPr id="325" name="Google Shape;325;p25"/>
            <p:cNvSpPr/>
            <p:nvPr/>
          </p:nvSpPr>
          <p:spPr>
            <a:xfrm>
              <a:off x="0" y="0"/>
              <a:ext cx="3962400" cy="331470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5"/>
            <p:cNvSpPr/>
            <p:nvPr/>
          </p:nvSpPr>
          <p:spPr>
            <a:xfrm>
              <a:off x="0" y="0"/>
              <a:ext cx="3962400" cy="381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5"/>
            <p:cNvSpPr txBox="1"/>
            <p:nvPr/>
          </p:nvSpPr>
          <p:spPr>
            <a:xfrm>
              <a:off x="228600" y="190500"/>
              <a:ext cx="3505200" cy="29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6666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CORE CAPABILITIES</a:t>
              </a:r>
              <a:endParaRPr b="0" sz="900">
                <a:solidFill>
                  <a:srgbClr val="66666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4B8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Advantages Over Legacy Options</a:t>
              </a:r>
              <a:endParaRPr b="0" sz="1400">
                <a:solidFill>
                  <a:srgbClr val="004B8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333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mTLS &amp; Encryption:</a:t>
              </a:r>
              <a:r>
                <a:rPr b="0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Provides mutual authentication and robust data encryption unlike OPC-UA or cleartext protocols.</a:t>
              </a:r>
              <a:endParaRPr b="0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333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Granular Policy Control:</a:t>
              </a:r>
              <a:r>
                <a:rPr b="0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Implements per-ID and function-code policy enforcement directly at the proxy level.</a:t>
              </a:r>
              <a:endParaRPr b="0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333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Zero Firmware Changes:</a:t>
              </a:r>
              <a:r>
                <a:rPr b="0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Operates seamlessly without requiring updates or modifications to PLC firmware.</a:t>
              </a:r>
              <a:endParaRPr b="0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333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Cost-Free Deployment:</a:t>
              </a:r>
              <a:r>
                <a:rPr b="0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Avoids high capital expenditures associated with commercial firewalls.</a:t>
              </a:r>
              <a:endParaRPr b="0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28" name="Google Shape;328;p25"/>
          <p:cNvGrpSpPr/>
          <p:nvPr/>
        </p:nvGrpSpPr>
        <p:grpSpPr>
          <a:xfrm>
            <a:off x="4724400" y="1314450"/>
            <a:ext cx="3962400" cy="3314700"/>
            <a:chOff x="0" y="0"/>
            <a:chExt cx="3962400" cy="3314700"/>
          </a:xfrm>
        </p:grpSpPr>
        <p:grpSp>
          <p:nvGrpSpPr>
            <p:cNvPr id="329" name="Google Shape;329;p25"/>
            <p:cNvGrpSpPr/>
            <p:nvPr/>
          </p:nvGrpSpPr>
          <p:grpSpPr>
            <a:xfrm>
              <a:off x="0" y="0"/>
              <a:ext cx="3962400" cy="990600"/>
              <a:chOff x="0" y="0"/>
              <a:chExt cx="3962400" cy="990600"/>
            </a:xfrm>
          </p:grpSpPr>
          <p:sp>
            <p:nvSpPr>
              <p:cNvPr id="330" name="Google Shape;330;p25"/>
              <p:cNvSpPr/>
              <p:nvPr/>
            </p:nvSpPr>
            <p:spPr>
              <a:xfrm>
                <a:off x="0" y="0"/>
                <a:ext cx="3962400" cy="990600"/>
              </a:xfrm>
              <a:prstGeom prst="rect">
                <a:avLst/>
              </a:prstGeom>
              <a:solidFill>
                <a:srgbClr val="F4F6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25"/>
              <p:cNvSpPr/>
              <p:nvPr/>
            </p:nvSpPr>
            <p:spPr>
              <a:xfrm>
                <a:off x="0" y="0"/>
                <a:ext cx="38100" cy="990600"/>
              </a:xfrm>
              <a:prstGeom prst="rect">
                <a:avLst/>
              </a:prstGeom>
              <a:solidFill>
                <a:srgbClr val="004B8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25"/>
              <p:cNvSpPr txBox="1"/>
              <p:nvPr/>
            </p:nvSpPr>
            <p:spPr>
              <a:xfrm>
                <a:off x="190500" y="133350"/>
                <a:ext cx="3581400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33">
                    <a:solidFill>
                      <a:srgbClr val="66666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PERFORMANCE OPTIMIZATION</a:t>
                </a:r>
                <a:endParaRPr b="0" sz="833">
                  <a:solidFill>
                    <a:srgbClr val="66666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110">
                    <a:solidFill>
                      <a:srgbClr val="0A0A0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Compiled Rust Implementation</a:t>
                </a:r>
                <a:endParaRPr b="0" sz="1110">
                  <a:solidFill>
                    <a:srgbClr val="0A0A0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018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Reduces proxy overhead to achieve sub-100 ms scan intervals for rapid industrial control loops.</a:t>
                </a:r>
                <a:endParaRPr b="0" sz="1018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33" name="Google Shape;333;p25"/>
            <p:cNvGrpSpPr/>
            <p:nvPr/>
          </p:nvGrpSpPr>
          <p:grpSpPr>
            <a:xfrm>
              <a:off x="0" y="1162050"/>
              <a:ext cx="3962400" cy="990600"/>
              <a:chOff x="0" y="0"/>
              <a:chExt cx="3962400" cy="990600"/>
            </a:xfrm>
          </p:grpSpPr>
          <p:sp>
            <p:nvSpPr>
              <p:cNvPr id="334" name="Google Shape;334;p25"/>
              <p:cNvSpPr/>
              <p:nvPr/>
            </p:nvSpPr>
            <p:spPr>
              <a:xfrm>
                <a:off x="0" y="0"/>
                <a:ext cx="3962400" cy="990600"/>
              </a:xfrm>
              <a:prstGeom prst="rect">
                <a:avLst/>
              </a:prstGeom>
              <a:solidFill>
                <a:srgbClr val="F4F6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25"/>
              <p:cNvSpPr/>
              <p:nvPr/>
            </p:nvSpPr>
            <p:spPr>
              <a:xfrm>
                <a:off x="0" y="0"/>
                <a:ext cx="38100" cy="990600"/>
              </a:xfrm>
              <a:prstGeom prst="rect">
                <a:avLst/>
              </a:prstGeom>
              <a:solidFill>
                <a:srgbClr val="004B8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25"/>
              <p:cNvSpPr txBox="1"/>
              <p:nvPr/>
            </p:nvSpPr>
            <p:spPr>
              <a:xfrm>
                <a:off x="190500" y="133350"/>
                <a:ext cx="3581400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33">
                    <a:solidFill>
                      <a:srgbClr val="66666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ENTERPRISE VISIBILITY</a:t>
                </a:r>
                <a:endParaRPr b="0" sz="833">
                  <a:solidFill>
                    <a:srgbClr val="66666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110">
                    <a:solidFill>
                      <a:srgbClr val="0A0A0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SIEM Platform Integration</a:t>
                </a:r>
                <a:endParaRPr b="0" sz="1110">
                  <a:solidFill>
                    <a:srgbClr val="0A0A0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018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Integrates proxy audit logs directly with SIEM platforms for centralized threat analysis and monitoring.</a:t>
                </a:r>
                <a:endParaRPr b="0" sz="1018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37" name="Google Shape;337;p25"/>
            <p:cNvGrpSpPr/>
            <p:nvPr/>
          </p:nvGrpSpPr>
          <p:grpSpPr>
            <a:xfrm>
              <a:off x="0" y="2324100"/>
              <a:ext cx="3962400" cy="990600"/>
              <a:chOff x="0" y="0"/>
              <a:chExt cx="3962400" cy="990600"/>
            </a:xfrm>
          </p:grpSpPr>
          <p:sp>
            <p:nvSpPr>
              <p:cNvPr id="338" name="Google Shape;338;p25"/>
              <p:cNvSpPr/>
              <p:nvPr/>
            </p:nvSpPr>
            <p:spPr>
              <a:xfrm>
                <a:off x="0" y="0"/>
                <a:ext cx="3962400" cy="990600"/>
              </a:xfrm>
              <a:prstGeom prst="rect">
                <a:avLst/>
              </a:prstGeom>
              <a:solidFill>
                <a:srgbClr val="F4F6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25"/>
              <p:cNvSpPr/>
              <p:nvPr/>
            </p:nvSpPr>
            <p:spPr>
              <a:xfrm>
                <a:off x="0" y="0"/>
                <a:ext cx="38100" cy="990600"/>
              </a:xfrm>
              <a:prstGeom prst="rect">
                <a:avLst/>
              </a:prstGeom>
              <a:solidFill>
                <a:srgbClr val="004B8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25"/>
              <p:cNvSpPr txBox="1"/>
              <p:nvPr/>
            </p:nvSpPr>
            <p:spPr>
              <a:xfrm>
                <a:off x="190500" y="133350"/>
                <a:ext cx="3581400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33">
                    <a:solidFill>
                      <a:srgbClr val="66666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MATHEMATICAL VERIFICATION</a:t>
                </a:r>
                <a:endParaRPr b="0" sz="833">
                  <a:solidFill>
                    <a:srgbClr val="66666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110">
                    <a:solidFill>
                      <a:srgbClr val="0A0A0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Formal Logic Guarantees (TLA+)</a:t>
                </a:r>
                <a:endParaRPr b="0" sz="1110">
                  <a:solidFill>
                    <a:srgbClr val="0A0A0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018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Utilizes formal verification tools like TLA+ to mathematically guarantee policy engine logic.</a:t>
                </a:r>
                <a:endParaRPr b="0" sz="1018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